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7" r:id="rId2"/>
    <p:sldId id="258" r:id="rId3"/>
    <p:sldId id="260" r:id="rId4"/>
    <p:sldId id="263" r:id="rId5"/>
    <p:sldId id="264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ABA95-B001-4273-8D6E-3B8A88B3601F}" v="1" dt="2025-05-19T15:48:47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Saldivia Salazar" userId="7702d5bea18b5005" providerId="LiveId" clId="{C05DD3A2-369D-4273-8BB2-5569523B78F9}"/>
    <pc:docChg chg="custSel modSld">
      <pc:chgData name="David Saldivia Salazar" userId="7702d5bea18b5005" providerId="LiveId" clId="{C05DD3A2-369D-4273-8BB2-5569523B78F9}" dt="2024-09-02T04:44:40.064" v="85" actId="20577"/>
      <pc:docMkLst>
        <pc:docMk/>
      </pc:docMkLst>
      <pc:sldChg chg="modSp mod">
        <pc:chgData name="David Saldivia Salazar" userId="7702d5bea18b5005" providerId="LiveId" clId="{C05DD3A2-369D-4273-8BB2-5569523B78F9}" dt="2024-09-02T04:44:40.064" v="85" actId="20577"/>
        <pc:sldMkLst>
          <pc:docMk/>
          <pc:sldMk cId="2263721948" sldId="259"/>
        </pc:sldMkLst>
      </pc:sldChg>
    </pc:docChg>
  </pc:docChgLst>
  <pc:docChgLst>
    <pc:chgData name="David Saldivia Salazar" userId="7702d5bea18b5005" providerId="Windows Live" clId="Web-{DEE3EBF8-C64F-44DD-A996-26950E229D3F}"/>
    <pc:docChg chg="modSld">
      <pc:chgData name="David Saldivia Salazar" userId="7702d5bea18b5005" providerId="Windows Live" clId="Web-{DEE3EBF8-C64F-44DD-A996-26950E229D3F}" dt="2024-12-16T14:53:21.694" v="3" actId="20577"/>
      <pc:docMkLst>
        <pc:docMk/>
      </pc:docMkLst>
      <pc:sldChg chg="modSp">
        <pc:chgData name="David Saldivia Salazar" userId="7702d5bea18b5005" providerId="Windows Live" clId="Web-{DEE3EBF8-C64F-44DD-A996-26950E229D3F}" dt="2024-12-16T14:53:21.694" v="3" actId="20577"/>
        <pc:sldMkLst>
          <pc:docMk/>
          <pc:sldMk cId="2117738962" sldId="260"/>
        </pc:sldMkLst>
      </pc:sldChg>
    </pc:docChg>
  </pc:docChgLst>
  <pc:docChgLst>
    <pc:chgData name="David Saldivia Salazar" userId="7702d5bea18b5005" providerId="LiveId" clId="{748ABA95-B001-4273-8D6E-3B8A88B3601F}"/>
    <pc:docChg chg="addSld modSld">
      <pc:chgData name="David Saldivia Salazar" userId="7702d5bea18b5005" providerId="LiveId" clId="{748ABA95-B001-4273-8D6E-3B8A88B3601F}" dt="2025-05-19T15:48:47.505" v="9"/>
      <pc:docMkLst>
        <pc:docMk/>
      </pc:docMkLst>
      <pc:sldChg chg="modSp mod">
        <pc:chgData name="David Saldivia Salazar" userId="7702d5bea18b5005" providerId="LiveId" clId="{748ABA95-B001-4273-8D6E-3B8A88B3601F}" dt="2025-05-16T15:19:07.715" v="8" actId="20577"/>
        <pc:sldMkLst>
          <pc:docMk/>
          <pc:sldMk cId="2676536960" sldId="257"/>
        </pc:sldMkLst>
        <pc:spChg chg="mod">
          <ac:chgData name="David Saldivia Salazar" userId="7702d5bea18b5005" providerId="LiveId" clId="{748ABA95-B001-4273-8D6E-3B8A88B3601F}" dt="2025-05-16T15:19:07.715" v="8" actId="20577"/>
          <ac:spMkLst>
            <pc:docMk/>
            <pc:sldMk cId="2676536960" sldId="257"/>
            <ac:spMk id="3" creationId="{BB7C6D76-08D1-11E9-67DC-F1DD43A604DC}"/>
          </ac:spMkLst>
        </pc:spChg>
      </pc:sldChg>
      <pc:sldChg chg="add">
        <pc:chgData name="David Saldivia Salazar" userId="7702d5bea18b5005" providerId="LiveId" clId="{748ABA95-B001-4273-8D6E-3B8A88B3601F}" dt="2025-05-19T15:48:47.505" v="9"/>
        <pc:sldMkLst>
          <pc:docMk/>
          <pc:sldMk cId="2168866448" sldId="263"/>
        </pc:sldMkLst>
      </pc:sldChg>
      <pc:sldChg chg="add">
        <pc:chgData name="David Saldivia Salazar" userId="7702d5bea18b5005" providerId="LiveId" clId="{748ABA95-B001-4273-8D6E-3B8A88B3601F}" dt="2025-05-19T15:48:47.505" v="9"/>
        <pc:sldMkLst>
          <pc:docMk/>
          <pc:sldMk cId="1238632186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4288-DCBA-6F37-3A6E-686B1CE0B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9319B-EE78-6DE6-58A0-2906062A4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03F09-ED84-B47F-3904-0387FFA6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C152A-5789-75C2-46AD-1A0F4BF9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8175-FE6B-2FFA-A1FE-1FAA0AB4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71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58A0-77DF-0FFA-2F28-9EEBED20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E1675-C699-CD3D-A8BD-090D16A14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B4946-068F-29E1-814B-04BB4C060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40CCD-A10B-ECCF-22A1-75501724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799DB-3123-BE65-8E5A-FEA96ACA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486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EAD3-DE06-6493-47EE-A44CA6FC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70591-24B9-37FB-F2DC-B8DF20045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E7B9A-EC90-C6B0-7B0C-7F948760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54E04-F6DE-43A9-066F-A5A616A1F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B8D68-2469-D858-277D-C5B94940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844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807B-820A-E545-7DE4-B13A4886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37A73-CA70-93C2-5147-364E5C456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2F562-0A53-8AD5-0DB3-85A097990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FCF87-A470-E560-D7C0-D5D4B948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02CEA-729A-AC8E-652E-9AFBEC5D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38BA8-7B57-77F8-DB51-0F66127E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562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AC76-41D6-413C-DF08-E2D6CC51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32DAD-EC09-33D7-5225-C75F82AA2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7F3A2-09EA-E6C8-0758-CCCF68999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7D718-C727-FC70-F5E3-6AD7273F5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DCFF6-8698-3F5F-8077-5AFFFAC76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4DAB2-2A9A-3186-1C8D-9D3726AB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7116DE-B14A-E511-D8FA-E2390D00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4CF9B-7BE0-332E-EBC0-7E3B7D6B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610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A4DF-CB89-8349-D5D1-ADB57B0E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12BAB8-9654-53CD-AA45-351FD1018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87AC0-602E-1CBF-6803-C53EAA1B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7341B-D2BC-2E59-3096-C8D658EB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395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928B27-674E-6944-789D-7C1501F5C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E42BD-A9AA-B40C-9C5A-A98C50150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4FD80-680C-C62C-E9DD-B6F3BA19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64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62286-034C-89F2-4C02-DB7F3691D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04915-0B21-3489-7A5F-4F859433D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87B1A-D5AC-74A0-6E52-351E0CC71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0A2D0-C5EA-3067-D473-141BD384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DBC2C-469A-DA43-92F2-F9463F88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E3565-CE78-3F2C-784B-636CDA19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638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5A6E-8547-5D3B-F3F3-1D8C16D3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005FF-1F6A-FC91-2416-073F40D4B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10693-7AAD-059F-3BE2-0F686473D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8B1F9-2465-7E46-3C57-3E9FE443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35A2-1A44-6811-D7D8-F8616973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9A941-241E-B2ED-8980-310F0F2A6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141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1630C-498B-0C6B-D0DC-09BE98FA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1E0AA-36AA-7DFC-C3CE-FCEFB50DC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D518-550A-8A9F-8E0D-16158F4B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520DB-8019-B0A1-04FE-727A1AD1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76C66-0848-7189-1282-8DA3AD47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70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8D3BF-1AFB-B1DF-52D9-C28B8860A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82713-E74C-0F4D-724A-4CF496BA6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18488-2870-A0D9-8E1C-6CDCB236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76D30-A79E-DEB2-8574-C433FE7CD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608EE-216B-26E9-09E9-2347CA41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592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3F79B-B3ED-FFC4-3CB9-2E63AF44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337-AD47-CF19-B051-C039F19F8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41149-EF14-BA2A-92E8-662734A05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0F017-51D9-403D-A3B1-D86CBEE1772E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999F8-70E4-FE08-0D6A-50C68A67A2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5BA65-3340-79F7-2567-ACE3B1DFF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7318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apuch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vidSaldivia/bdr_csp" TargetMode="External"/><Relationship Id="rId2" Type="http://schemas.openxmlformats.org/officeDocument/2006/relationships/hyperlink" Target="https://github.com/DavidSaldivia/tm_solarshif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F935-7AD0-D15A-3968-91D3F935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ideal research plan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6D76-08D1-11E9-67DC-F1DD43A6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publish two papers from my </a:t>
            </a:r>
            <a:r>
              <a:rPr lang="en-US" dirty="0" err="1"/>
              <a:t>phd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chapter 5 (almost ready)</a:t>
            </a:r>
          </a:p>
          <a:p>
            <a:pPr lvl="1"/>
            <a:r>
              <a:rPr lang="en-US" dirty="0"/>
              <a:t>chapter 6-7 (half-way)</a:t>
            </a:r>
          </a:p>
          <a:p>
            <a:pPr lvl="1"/>
            <a:endParaRPr lang="en-US" dirty="0"/>
          </a:p>
          <a:p>
            <a:r>
              <a:rPr lang="en-US" dirty="0"/>
              <a:t>develop </a:t>
            </a:r>
            <a:r>
              <a:rPr lang="en-US" dirty="0" err="1"/>
              <a:t>antupy</a:t>
            </a:r>
            <a:r>
              <a:rPr lang="en-AU" dirty="0"/>
              <a:t>:</a:t>
            </a:r>
          </a:p>
          <a:p>
            <a:pPr lvl="1"/>
            <a:r>
              <a:rPr lang="en-AU" dirty="0"/>
              <a:t>energy system analyser </a:t>
            </a:r>
            <a:r>
              <a:rPr lang="en-AU"/>
              <a:t>for multi-paradigm </a:t>
            </a:r>
            <a:r>
              <a:rPr lang="en-AU" dirty="0"/>
              <a:t>processes.</a:t>
            </a:r>
          </a:p>
          <a:p>
            <a:pPr lvl="1"/>
            <a:r>
              <a:rPr lang="en-AU" dirty="0" err="1"/>
              <a:t>antu</a:t>
            </a:r>
            <a:r>
              <a:rPr lang="en-AU" dirty="0"/>
              <a:t>-: “</a:t>
            </a:r>
            <a:r>
              <a:rPr lang="en-AU" i="1" dirty="0"/>
              <a:t>sun</a:t>
            </a:r>
            <a:r>
              <a:rPr lang="en-AU" dirty="0"/>
              <a:t>” in </a:t>
            </a:r>
            <a:r>
              <a:rPr lang="en-AU" dirty="0" err="1"/>
              <a:t>mapudungún</a:t>
            </a:r>
            <a:r>
              <a:rPr lang="en-AU" dirty="0"/>
              <a:t>. –</a:t>
            </a:r>
            <a:r>
              <a:rPr lang="en-AU" dirty="0" err="1"/>
              <a:t>py</a:t>
            </a:r>
            <a:r>
              <a:rPr lang="en-AU" dirty="0"/>
              <a:t>: python package.</a:t>
            </a:r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653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F935-7AD0-D15A-3968-91D3F935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antupy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6D76-08D1-11E9-67DC-F1DD43A6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antupy</a:t>
            </a:r>
            <a:r>
              <a:rPr lang="en-AU" dirty="0"/>
              <a:t>:</a:t>
            </a:r>
          </a:p>
          <a:p>
            <a:pPr lvl="1"/>
            <a:r>
              <a:rPr lang="en-AU" dirty="0"/>
              <a:t>energy system analysis for multi-paradigm decision-making processes.</a:t>
            </a:r>
          </a:p>
          <a:p>
            <a:pPr lvl="1"/>
            <a:r>
              <a:rPr lang="en-AU" dirty="0" err="1"/>
              <a:t>antu</a:t>
            </a:r>
            <a:r>
              <a:rPr lang="en-AU" dirty="0"/>
              <a:t>-: “</a:t>
            </a:r>
            <a:r>
              <a:rPr lang="en-AU" i="1" dirty="0"/>
              <a:t>sun</a:t>
            </a:r>
            <a:r>
              <a:rPr lang="en-AU" dirty="0"/>
              <a:t>” in </a:t>
            </a:r>
            <a:r>
              <a:rPr lang="en-AU" dirty="0" err="1">
                <a:hlinkClick r:id="rId2"/>
              </a:rPr>
              <a:t>mapudungún</a:t>
            </a:r>
            <a:r>
              <a:rPr lang="en-AU" dirty="0"/>
              <a:t>. –</a:t>
            </a:r>
            <a:r>
              <a:rPr lang="en-AU" dirty="0" err="1"/>
              <a:t>py</a:t>
            </a:r>
            <a:r>
              <a:rPr lang="en-AU" dirty="0"/>
              <a:t>: python package.</a:t>
            </a:r>
          </a:p>
          <a:p>
            <a:pPr lvl="1"/>
            <a:r>
              <a:rPr lang="en-AU" dirty="0"/>
              <a:t> influences:</a:t>
            </a:r>
          </a:p>
          <a:p>
            <a:pPr lvl="2"/>
            <a:r>
              <a:rPr lang="en-AU" dirty="0"/>
              <a:t>SAM</a:t>
            </a:r>
          </a:p>
          <a:p>
            <a:pPr lvl="2"/>
            <a:r>
              <a:rPr lang="en-AU" dirty="0" err="1"/>
              <a:t>solarpilot</a:t>
            </a:r>
            <a:endParaRPr lang="en-AU" dirty="0"/>
          </a:p>
          <a:p>
            <a:pPr lvl="2"/>
            <a:r>
              <a:rPr lang="en-AU" dirty="0"/>
              <a:t>EES</a:t>
            </a:r>
          </a:p>
          <a:p>
            <a:pPr lvl="2"/>
            <a:r>
              <a:rPr lang="en-AU" dirty="0" err="1"/>
              <a:t>trnsys</a:t>
            </a:r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397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A099-A846-EDE8-B890-F74D8EAF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existing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182D-00D2-76B8-E40F-3235CC62C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hlinkClick r:id="rId2"/>
              </a:rPr>
              <a:t>tm_solarshift</a:t>
            </a:r>
            <a:r>
              <a:rPr lang="en-US" dirty="0"/>
              <a:t> : </a:t>
            </a:r>
            <a:r>
              <a:rPr lang="en-US" dirty="0" err="1"/>
              <a:t>dewh</a:t>
            </a:r>
            <a:r>
              <a:rPr lang="en-US" dirty="0"/>
              <a:t> (postdoc).</a:t>
            </a:r>
          </a:p>
          <a:p>
            <a:r>
              <a:rPr lang="en-US" dirty="0">
                <a:hlinkClick r:id="rId3"/>
              </a:rPr>
              <a:t>bdr_csp</a:t>
            </a:r>
            <a:r>
              <a:rPr lang="en-US" dirty="0"/>
              <a:t>: </a:t>
            </a:r>
            <a:r>
              <a:rPr lang="en-US" dirty="0" err="1"/>
              <a:t>csp</a:t>
            </a:r>
            <a:r>
              <a:rPr lang="en-US" dirty="0"/>
              <a:t> (</a:t>
            </a:r>
            <a:r>
              <a:rPr lang="en-US" dirty="0" err="1"/>
              <a:t>phd</a:t>
            </a:r>
            <a:r>
              <a:rPr lang="en-US" dirty="0"/>
              <a:t> code).</a:t>
            </a:r>
          </a:p>
          <a:p>
            <a:r>
              <a:rPr lang="en-US" dirty="0" err="1"/>
              <a:t>med_fortran</a:t>
            </a:r>
            <a:r>
              <a:rPr lang="en-US" dirty="0"/>
              <a:t>: desal (master’s code, </a:t>
            </a:r>
            <a:r>
              <a:rPr lang="en-US" dirty="0" err="1"/>
              <a:t>fortran</a:t>
            </a:r>
            <a:r>
              <a:rPr lang="en-US" dirty="0"/>
              <a:t>).</a:t>
            </a:r>
          </a:p>
          <a:p>
            <a:r>
              <a:rPr lang="en-US" dirty="0"/>
              <a:t>med-</a:t>
            </a:r>
            <a:r>
              <a:rPr lang="en-US" dirty="0" err="1"/>
              <a:t>csp</a:t>
            </a:r>
            <a:r>
              <a:rPr lang="en-US" dirty="0"/>
              <a:t> integration (</a:t>
            </a:r>
            <a:r>
              <a:rPr lang="en-US" dirty="0" err="1"/>
              <a:t>amr’s</a:t>
            </a:r>
            <a:r>
              <a:rPr lang="en-US" dirty="0"/>
              <a:t> collaboration).</a:t>
            </a:r>
          </a:p>
          <a:p>
            <a:r>
              <a:rPr lang="en-US" dirty="0" err="1"/>
              <a:t>hdh</a:t>
            </a:r>
            <a:r>
              <a:rPr lang="en-US" dirty="0"/>
              <a:t> (</a:t>
            </a:r>
            <a:r>
              <a:rPr lang="en-US" dirty="0" err="1"/>
              <a:t>usm</a:t>
            </a:r>
            <a:r>
              <a:rPr lang="en-US" dirty="0"/>
              <a:t> research).</a:t>
            </a:r>
          </a:p>
          <a:p>
            <a:r>
              <a:rPr lang="en-US" dirty="0" err="1"/>
              <a:t>caes</a:t>
            </a:r>
            <a:r>
              <a:rPr lang="en-US" dirty="0"/>
              <a:t> (</a:t>
            </a:r>
            <a:r>
              <a:rPr lang="en-US" dirty="0" err="1"/>
              <a:t>usm</a:t>
            </a:r>
            <a:r>
              <a:rPr lang="en-US" dirty="0"/>
              <a:t> research).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7738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B06E-6239-3F2C-7E97-76ABA3BC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module architectures</a:t>
            </a:r>
            <a:endParaRPr lang="en-IE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632C65-8B2D-1F82-0826-B4B7F21BA203}"/>
              </a:ext>
            </a:extLst>
          </p:cNvPr>
          <p:cNvGrpSpPr/>
          <p:nvPr/>
        </p:nvGrpSpPr>
        <p:grpSpPr>
          <a:xfrm>
            <a:off x="3383767" y="1576465"/>
            <a:ext cx="2732049" cy="5167312"/>
            <a:chOff x="3383767" y="1576465"/>
            <a:chExt cx="2732049" cy="516731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1E56B78-3CF5-15E6-C035-BCF9A5BECF4B}"/>
                </a:ext>
              </a:extLst>
            </p:cNvPr>
            <p:cNvSpPr/>
            <p:nvPr/>
          </p:nvSpPr>
          <p:spPr>
            <a:xfrm>
              <a:off x="3383767" y="1576465"/>
              <a:ext cx="2732049" cy="51673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dirty="0"/>
                <a:t>DEWH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62E8FA5-AD57-3496-D7CE-2452398DDB03}"/>
                </a:ext>
              </a:extLst>
            </p:cNvPr>
            <p:cNvSpPr/>
            <p:nvPr/>
          </p:nvSpPr>
          <p:spPr>
            <a:xfrm>
              <a:off x="3868849" y="2126670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2B23FFA-D685-E1FA-0174-E576894B4EFA}"/>
                </a:ext>
              </a:extLst>
            </p:cNvPr>
            <p:cNvSpPr/>
            <p:nvPr/>
          </p:nvSpPr>
          <p:spPr>
            <a:xfrm>
              <a:off x="3868844" y="2714909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Location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0ACC886-26DB-B85F-06C1-50E6BEF005B3}"/>
                </a:ext>
              </a:extLst>
            </p:cNvPr>
            <p:cNvSpPr/>
            <p:nvPr/>
          </p:nvSpPr>
          <p:spPr>
            <a:xfrm>
              <a:off x="3868846" y="4428275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Control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FE43E71-6B34-B56A-237D-E1AA30589C0B}"/>
                </a:ext>
              </a:extLst>
            </p:cNvPr>
            <p:cNvSpPr/>
            <p:nvPr/>
          </p:nvSpPr>
          <p:spPr>
            <a:xfrm>
              <a:off x="3868846" y="5006204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DEWH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495EA7B-423E-EBC2-EB65-4DFF35FC395F}"/>
                </a:ext>
              </a:extLst>
            </p:cNvPr>
            <p:cNvSpPr/>
            <p:nvPr/>
          </p:nvSpPr>
          <p:spPr>
            <a:xfrm>
              <a:off x="3868846" y="5576046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 err="1">
                  <a:solidFill>
                    <a:schemeClr val="accent2"/>
                  </a:solidFill>
                </a:rPr>
                <a:t>PVSystem</a:t>
              </a:r>
              <a:endParaRPr lang="en-IE" dirty="0">
                <a:solidFill>
                  <a:schemeClr val="accent2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5CBA6FC-BF96-67E8-A1B8-C8FD88875E50}"/>
                </a:ext>
              </a:extLst>
            </p:cNvPr>
            <p:cNvSpPr/>
            <p:nvPr/>
          </p:nvSpPr>
          <p:spPr>
            <a:xfrm>
              <a:off x="3868846" y="6140372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8BEACDB-94C2-A5F9-242E-B4A660CDC40C}"/>
                </a:ext>
              </a:extLst>
            </p:cNvPr>
            <p:cNvSpPr/>
            <p:nvPr/>
          </p:nvSpPr>
          <p:spPr>
            <a:xfrm>
              <a:off x="3868843" y="3280504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Weather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6B1A716-1BA0-D3E0-D8AD-41A8E5703B3C}"/>
                </a:ext>
              </a:extLst>
            </p:cNvPr>
            <p:cNvSpPr/>
            <p:nvPr/>
          </p:nvSpPr>
          <p:spPr>
            <a:xfrm>
              <a:off x="3868846" y="3850346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HWDP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E7BE618-0E11-8A12-4395-20A971711CE9}"/>
              </a:ext>
            </a:extLst>
          </p:cNvPr>
          <p:cNvGrpSpPr/>
          <p:nvPr/>
        </p:nvGrpSpPr>
        <p:grpSpPr>
          <a:xfrm>
            <a:off x="465872" y="1614489"/>
            <a:ext cx="2732049" cy="5053088"/>
            <a:chOff x="465872" y="1614489"/>
            <a:chExt cx="2732049" cy="50530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3EA13C2-952C-A74C-04E2-0EEC64D40398}"/>
                </a:ext>
              </a:extLst>
            </p:cNvPr>
            <p:cNvSpPr/>
            <p:nvPr/>
          </p:nvSpPr>
          <p:spPr>
            <a:xfrm>
              <a:off x="465872" y="1614489"/>
              <a:ext cx="2732049" cy="505308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dirty="0" err="1"/>
                <a:t>PlantCSP</a:t>
              </a:r>
              <a:endParaRPr lang="en-IE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5EDF7B1-5FB2-42DC-8966-F8934614CA3E}"/>
                </a:ext>
              </a:extLst>
            </p:cNvPr>
            <p:cNvSpPr/>
            <p:nvPr/>
          </p:nvSpPr>
          <p:spPr>
            <a:xfrm>
              <a:off x="950952" y="3253059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Weather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C6DDA8C-B32E-4A11-6242-162DA4F0D4A1}"/>
                </a:ext>
              </a:extLst>
            </p:cNvPr>
            <p:cNvSpPr/>
            <p:nvPr/>
          </p:nvSpPr>
          <p:spPr>
            <a:xfrm>
              <a:off x="950951" y="4390278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Receiver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0528BCC-1630-29A9-07F0-C23F9AD6281C}"/>
                </a:ext>
              </a:extLst>
            </p:cNvPr>
            <p:cNvSpPr/>
            <p:nvPr/>
          </p:nvSpPr>
          <p:spPr>
            <a:xfrm>
              <a:off x="950950" y="4949067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Storage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D05ECB8-196C-721C-99B5-6BC4BFE6F586}"/>
                </a:ext>
              </a:extLst>
            </p:cNvPr>
            <p:cNvSpPr/>
            <p:nvPr/>
          </p:nvSpPr>
          <p:spPr>
            <a:xfrm>
              <a:off x="950950" y="5515538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 err="1">
                  <a:solidFill>
                    <a:schemeClr val="accent2"/>
                  </a:solidFill>
                </a:rPr>
                <a:t>PowerBlock</a:t>
              </a:r>
              <a:endParaRPr lang="en-IE" dirty="0">
                <a:solidFill>
                  <a:schemeClr val="accent2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5B93AE6-6057-4A02-754E-7423EC2A8D08}"/>
                </a:ext>
              </a:extLst>
            </p:cNvPr>
            <p:cNvSpPr/>
            <p:nvPr/>
          </p:nvSpPr>
          <p:spPr>
            <a:xfrm>
              <a:off x="950951" y="3831489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 err="1">
                  <a:solidFill>
                    <a:schemeClr val="accent2"/>
                  </a:solidFill>
                </a:rPr>
                <a:t>OpticalSystem</a:t>
              </a:r>
              <a:endParaRPr lang="en-IE" dirty="0">
                <a:solidFill>
                  <a:schemeClr val="accent2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DF61A14-E8AD-F12A-F9D0-3B35656B0E8E}"/>
                </a:ext>
              </a:extLst>
            </p:cNvPr>
            <p:cNvSpPr/>
            <p:nvPr/>
          </p:nvSpPr>
          <p:spPr>
            <a:xfrm>
              <a:off x="950950" y="6094183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E4A9761-134A-6C68-5439-4A991A9047B5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4E967BD-1DDD-24A8-54D2-9E26F36FF367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Location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6ED06A7-32A6-8373-3247-36BA39DD1228}"/>
              </a:ext>
            </a:extLst>
          </p:cNvPr>
          <p:cNvGrpSpPr/>
          <p:nvPr/>
        </p:nvGrpSpPr>
        <p:grpSpPr>
          <a:xfrm>
            <a:off x="6301662" y="1576465"/>
            <a:ext cx="2732049" cy="4202035"/>
            <a:chOff x="6301662" y="1576465"/>
            <a:chExt cx="2732049" cy="420203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3B0F28A-B4C7-EA7C-0057-AA6FF43E78AF}"/>
                </a:ext>
              </a:extLst>
            </p:cNvPr>
            <p:cNvSpPr/>
            <p:nvPr/>
          </p:nvSpPr>
          <p:spPr>
            <a:xfrm>
              <a:off x="6301662" y="1576465"/>
              <a:ext cx="2732049" cy="420203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dirty="0"/>
                <a:t>MED-Solar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C4F3EA9-8516-5629-5E5E-EE4ED9D0183C}"/>
                </a:ext>
              </a:extLst>
            </p:cNvPr>
            <p:cNvSpPr/>
            <p:nvPr/>
          </p:nvSpPr>
          <p:spPr>
            <a:xfrm>
              <a:off x="6789849" y="2126670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19A5861-F1FC-C19F-A36F-57668C224537}"/>
                </a:ext>
              </a:extLst>
            </p:cNvPr>
            <p:cNvSpPr/>
            <p:nvPr/>
          </p:nvSpPr>
          <p:spPr>
            <a:xfrm>
              <a:off x="6789844" y="2714909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Location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06246F9-993D-0B9A-3C6E-E0CFF21C520F}"/>
                </a:ext>
              </a:extLst>
            </p:cNvPr>
            <p:cNvSpPr/>
            <p:nvPr/>
          </p:nvSpPr>
          <p:spPr>
            <a:xfrm>
              <a:off x="6786739" y="3868743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PTC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BFB76D7-B9BD-176A-487F-FD77F7C77165}"/>
                </a:ext>
              </a:extLst>
            </p:cNvPr>
            <p:cNvSpPr/>
            <p:nvPr/>
          </p:nvSpPr>
          <p:spPr>
            <a:xfrm>
              <a:off x="6786739" y="4481727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MED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C3B487D-7B4E-4BC5-7F4D-F242125B5150}"/>
                </a:ext>
              </a:extLst>
            </p:cNvPr>
            <p:cNvSpPr/>
            <p:nvPr/>
          </p:nvSpPr>
          <p:spPr>
            <a:xfrm>
              <a:off x="6786738" y="5074241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C462F86-B144-2AB9-2267-7FFE18EC71C0}"/>
                </a:ext>
              </a:extLst>
            </p:cNvPr>
            <p:cNvSpPr/>
            <p:nvPr/>
          </p:nvSpPr>
          <p:spPr>
            <a:xfrm>
              <a:off x="6789843" y="3280504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Weather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37D759-E297-45D5-A433-8D5CB3DFBB5C}"/>
              </a:ext>
            </a:extLst>
          </p:cNvPr>
          <p:cNvGrpSpPr/>
          <p:nvPr/>
        </p:nvGrpSpPr>
        <p:grpSpPr>
          <a:xfrm>
            <a:off x="9336962" y="1576465"/>
            <a:ext cx="2732049" cy="4202035"/>
            <a:chOff x="9336962" y="1576465"/>
            <a:chExt cx="2732049" cy="4202035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FFFFB88-F2EB-57A1-E43C-77240FF7E545}"/>
                </a:ext>
              </a:extLst>
            </p:cNvPr>
            <p:cNvSpPr/>
            <p:nvPr/>
          </p:nvSpPr>
          <p:spPr>
            <a:xfrm>
              <a:off x="9336962" y="1576465"/>
              <a:ext cx="2732049" cy="420203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dirty="0"/>
                <a:t>CAES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075F9B0-89F4-4B63-5E23-B7F04CF45FD0}"/>
                </a:ext>
              </a:extLst>
            </p:cNvPr>
            <p:cNvSpPr/>
            <p:nvPr/>
          </p:nvSpPr>
          <p:spPr>
            <a:xfrm>
              <a:off x="9825149" y="2126670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1476E60-46A5-8351-70E9-0F31E36DB2E6}"/>
                </a:ext>
              </a:extLst>
            </p:cNvPr>
            <p:cNvSpPr/>
            <p:nvPr/>
          </p:nvSpPr>
          <p:spPr>
            <a:xfrm>
              <a:off x="9825144" y="2714909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Location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D6D9959-0FCF-D180-BE28-37D2B56F61C5}"/>
                </a:ext>
              </a:extLst>
            </p:cNvPr>
            <p:cNvSpPr/>
            <p:nvPr/>
          </p:nvSpPr>
          <p:spPr>
            <a:xfrm>
              <a:off x="9822039" y="3868743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CAES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F74EA40-F44E-2E38-9FBB-4D1D6F8BAE50}"/>
                </a:ext>
              </a:extLst>
            </p:cNvPr>
            <p:cNvSpPr/>
            <p:nvPr/>
          </p:nvSpPr>
          <p:spPr>
            <a:xfrm>
              <a:off x="9822039" y="4466477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540D844-2E26-5EBA-07CF-B0D198E37699}"/>
                </a:ext>
              </a:extLst>
            </p:cNvPr>
            <p:cNvSpPr/>
            <p:nvPr/>
          </p:nvSpPr>
          <p:spPr>
            <a:xfrm>
              <a:off x="9825143" y="3280504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Weather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8866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4F01-37B0-3372-A4BE-D70EEA6C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F654D3-516D-24FB-3674-2826E893C927}"/>
              </a:ext>
            </a:extLst>
          </p:cNvPr>
          <p:cNvSpPr/>
          <p:nvPr/>
        </p:nvSpPr>
        <p:spPr>
          <a:xfrm>
            <a:off x="3466509" y="1613777"/>
            <a:ext cx="7964449" cy="5053088"/>
          </a:xfrm>
          <a:prstGeom prst="roundRect">
            <a:avLst>
              <a:gd name="adj" fmla="val 736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E" dirty="0"/>
              <a:t>Process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2E43CD7-B2DC-2167-5601-D281A282AC00}"/>
              </a:ext>
            </a:extLst>
          </p:cNvPr>
          <p:cNvSpPr/>
          <p:nvPr/>
        </p:nvSpPr>
        <p:spPr>
          <a:xfrm>
            <a:off x="4062760" y="2345744"/>
            <a:ext cx="3213100" cy="39751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E" dirty="0">
                <a:solidFill>
                  <a:schemeClr val="accent1"/>
                </a:solidFill>
              </a:rPr>
              <a:t>Parametric Analysis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9D469-4418-AE5B-90F1-B039D071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architectures example: </a:t>
            </a:r>
            <a:r>
              <a:rPr lang="en-US" dirty="0" err="1"/>
              <a:t>csp</a:t>
            </a:r>
            <a:endParaRPr lang="en-IE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30F986-D38E-F38A-929A-3BBE627C4DDD}"/>
              </a:ext>
            </a:extLst>
          </p:cNvPr>
          <p:cNvGrpSpPr/>
          <p:nvPr/>
        </p:nvGrpSpPr>
        <p:grpSpPr>
          <a:xfrm>
            <a:off x="465872" y="1614489"/>
            <a:ext cx="2732049" cy="5053088"/>
            <a:chOff x="465872" y="1614489"/>
            <a:chExt cx="2732049" cy="50530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91C49CA-D05D-40DA-58B6-D9DC88B4F4CA}"/>
                </a:ext>
              </a:extLst>
            </p:cNvPr>
            <p:cNvSpPr/>
            <p:nvPr/>
          </p:nvSpPr>
          <p:spPr>
            <a:xfrm>
              <a:off x="465872" y="1614489"/>
              <a:ext cx="2732049" cy="505308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dirty="0" err="1"/>
                <a:t>PlantCSP</a:t>
              </a:r>
              <a:endParaRPr lang="en-IE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08004D-C969-D567-E62E-7519C4DCE557}"/>
                </a:ext>
              </a:extLst>
            </p:cNvPr>
            <p:cNvSpPr/>
            <p:nvPr/>
          </p:nvSpPr>
          <p:spPr>
            <a:xfrm>
              <a:off x="950952" y="3253059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Weather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B2A663C-2760-6C41-5086-C0BE0E667E9F}"/>
                </a:ext>
              </a:extLst>
            </p:cNvPr>
            <p:cNvSpPr/>
            <p:nvPr/>
          </p:nvSpPr>
          <p:spPr>
            <a:xfrm>
              <a:off x="950951" y="4390278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Receiver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E6DCA5C-157F-9A24-38AC-AADBE8A7C57E}"/>
                </a:ext>
              </a:extLst>
            </p:cNvPr>
            <p:cNvSpPr/>
            <p:nvPr/>
          </p:nvSpPr>
          <p:spPr>
            <a:xfrm>
              <a:off x="950950" y="4949067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2"/>
                  </a:solidFill>
                </a:rPr>
                <a:t>Storage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F3F7DA8-E8A5-4997-16DC-B414EF79FECF}"/>
                </a:ext>
              </a:extLst>
            </p:cNvPr>
            <p:cNvSpPr/>
            <p:nvPr/>
          </p:nvSpPr>
          <p:spPr>
            <a:xfrm>
              <a:off x="950950" y="5515538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 err="1">
                  <a:solidFill>
                    <a:schemeClr val="accent2"/>
                  </a:solidFill>
                </a:rPr>
                <a:t>PowerBlock</a:t>
              </a:r>
              <a:endParaRPr lang="en-IE" dirty="0">
                <a:solidFill>
                  <a:schemeClr val="accent2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C0D062C-8F5B-E493-B935-B456ADECF5C8}"/>
                </a:ext>
              </a:extLst>
            </p:cNvPr>
            <p:cNvSpPr/>
            <p:nvPr/>
          </p:nvSpPr>
          <p:spPr>
            <a:xfrm>
              <a:off x="950951" y="3831489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 err="1">
                  <a:solidFill>
                    <a:schemeClr val="accent2"/>
                  </a:solidFill>
                </a:rPr>
                <a:t>OpticalSystem</a:t>
              </a:r>
              <a:endParaRPr lang="en-IE" dirty="0">
                <a:solidFill>
                  <a:schemeClr val="accent2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5F44C31-F5BE-DCD7-DA85-41CEEF22AF1B}"/>
                </a:ext>
              </a:extLst>
            </p:cNvPr>
            <p:cNvSpPr/>
            <p:nvPr/>
          </p:nvSpPr>
          <p:spPr>
            <a:xfrm>
              <a:off x="950950" y="6094183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9E29F03-A7AF-A034-75F2-656059A28835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4654FD5-87FE-948B-5F5E-6A23F5E7A6E2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Location</a:t>
              </a:r>
            </a:p>
          </p:txBody>
        </p:sp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27782EA-1ABC-8E05-01EA-7559B0860C78}"/>
              </a:ext>
            </a:extLst>
          </p:cNvPr>
          <p:cNvSpPr/>
          <p:nvPr/>
        </p:nvSpPr>
        <p:spPr>
          <a:xfrm>
            <a:off x="4189760" y="2872048"/>
            <a:ext cx="2997200" cy="325754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E" dirty="0">
                <a:solidFill>
                  <a:schemeClr val="accent1"/>
                </a:solidFill>
              </a:rPr>
              <a:t>Annual Performance (TMY)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571C063-2086-07D3-8F2F-A5550D9233A6}"/>
              </a:ext>
            </a:extLst>
          </p:cNvPr>
          <p:cNvSpPr/>
          <p:nvPr/>
        </p:nvSpPr>
        <p:spPr>
          <a:xfrm>
            <a:off x="7848600" y="2393164"/>
            <a:ext cx="2997200" cy="378385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E" dirty="0">
                <a:solidFill>
                  <a:schemeClr val="accent1"/>
                </a:solidFill>
              </a:rPr>
              <a:t>Stochastic Analysis</a:t>
            </a:r>
          </a:p>
          <a:p>
            <a:pPr algn="ctr"/>
            <a:r>
              <a:rPr lang="en-IE" dirty="0">
                <a:solidFill>
                  <a:schemeClr val="accent1"/>
                </a:solidFill>
              </a:rPr>
              <a:t>(</a:t>
            </a:r>
            <a:r>
              <a:rPr lang="en-IE" dirty="0" err="1">
                <a:solidFill>
                  <a:schemeClr val="accent1"/>
                </a:solidFill>
              </a:rPr>
              <a:t>MonteCarlo</a:t>
            </a:r>
            <a:r>
              <a:rPr lang="en-IE" dirty="0">
                <a:solidFill>
                  <a:schemeClr val="accent1"/>
                </a:solidFill>
              </a:rPr>
              <a:t> Simulation)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D1A5EF6-E86D-F2A3-FDF7-79E23984C7BE}"/>
              </a:ext>
            </a:extLst>
          </p:cNvPr>
          <p:cNvGrpSpPr/>
          <p:nvPr/>
        </p:nvGrpSpPr>
        <p:grpSpPr>
          <a:xfrm>
            <a:off x="4459094" y="3672031"/>
            <a:ext cx="1632752" cy="2422152"/>
            <a:chOff x="8483600" y="3423723"/>
            <a:chExt cx="1727200" cy="2614341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A510200D-E428-3857-ACE2-595D20C26796}"/>
                </a:ext>
              </a:extLst>
            </p:cNvPr>
            <p:cNvSpPr/>
            <p:nvPr/>
          </p:nvSpPr>
          <p:spPr>
            <a:xfrm>
              <a:off x="8483600" y="3423723"/>
              <a:ext cx="1727200" cy="2614341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Simulation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2723F7D9-E5FE-729A-C287-4E7DF42F3CB0}"/>
                    </a:ext>
                  </a:extLst>
                </p:cNvPr>
                <p:cNvSpPr/>
                <p:nvPr/>
              </p:nvSpPr>
              <p:spPr>
                <a:xfrm>
                  <a:off x="8610600" y="3874627"/>
                  <a:ext cx="1473200" cy="416528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</m:sSub>
                      </m:oMath>
                    </m:oMathPara>
                  </a14:m>
                  <a:endParaRPr lang="en-IE" b="0" dirty="0">
                    <a:solidFill>
                      <a:schemeClr val="accent1"/>
                    </a:solidFill>
                  </a:endParaRPr>
                </a:p>
                <a:p>
                  <a:pPr algn="ctr"/>
                  <a:endParaRPr lang="en-IE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2723F7D9-E5FE-729A-C287-4E7DF42F3C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3874627"/>
                  <a:ext cx="1473200" cy="416528"/>
                </a:xfrm>
                <a:prstGeom prst="roundRect">
                  <a:avLst/>
                </a:prstGeom>
                <a:blipFill>
                  <a:blip r:embed="rId2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14D21E38-2E5A-0DD9-4527-7A91D1AFDBBA}"/>
                    </a:ext>
                  </a:extLst>
                </p:cNvPr>
                <p:cNvSpPr/>
                <p:nvPr/>
              </p:nvSpPr>
              <p:spPr>
                <a:xfrm>
                  <a:off x="8610600" y="4396010"/>
                  <a:ext cx="1473200" cy="416528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𝑟𝑐𝑣</m:t>
                            </m:r>
                          </m:sub>
                        </m:sSub>
                      </m:oMath>
                    </m:oMathPara>
                  </a14:m>
                  <a:endParaRPr lang="en-IE" b="0" dirty="0">
                    <a:solidFill>
                      <a:schemeClr val="accent1"/>
                    </a:solidFill>
                  </a:endParaRPr>
                </a:p>
                <a:p>
                  <a:pPr algn="ctr"/>
                  <a:endParaRPr lang="en-IE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14D21E38-2E5A-0DD9-4527-7A91D1AFDB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4396010"/>
                  <a:ext cx="1473200" cy="416528"/>
                </a:xfrm>
                <a:prstGeom prst="roundRect">
                  <a:avLst/>
                </a:prstGeom>
                <a:blipFill>
                  <a:blip r:embed="rId3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B613F0D6-FA92-C645-662C-7EBD537DD219}"/>
                    </a:ext>
                  </a:extLst>
                </p:cNvPr>
                <p:cNvSpPr/>
                <p:nvPr/>
              </p:nvSpPr>
              <p:spPr>
                <a:xfrm>
                  <a:off x="8610600" y="4926785"/>
                  <a:ext cx="1473200" cy="416528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I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𝑝𝑏</m:t>
                            </m:r>
                          </m:sub>
                        </m:sSub>
                      </m:oMath>
                    </m:oMathPara>
                  </a14:m>
                  <a:endParaRPr lang="en-IE" b="0" dirty="0">
                    <a:solidFill>
                      <a:schemeClr val="accent1"/>
                    </a:solidFill>
                  </a:endParaRPr>
                </a:p>
                <a:p>
                  <a:pPr algn="ctr"/>
                  <a:endParaRPr lang="en-IE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B613F0D6-FA92-C645-662C-7EBD537DD2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4926785"/>
                  <a:ext cx="1473200" cy="416528"/>
                </a:xfrm>
                <a:prstGeom prst="roundRect">
                  <a:avLst/>
                </a:prstGeom>
                <a:blipFill>
                  <a:blip r:embed="rId4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46BC885-353B-5980-DF8E-8434783CBB92}"/>
                </a:ext>
              </a:extLst>
            </p:cNvPr>
            <p:cNvSpPr/>
            <p:nvPr/>
          </p:nvSpPr>
          <p:spPr>
            <a:xfrm>
              <a:off x="8610600" y="5452257"/>
              <a:ext cx="1473200" cy="41652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sz="1400" b="0" dirty="0">
                  <a:solidFill>
                    <a:schemeClr val="accent1"/>
                  </a:solidFill>
                </a:rPr>
                <a:t>Dispatch</a:t>
              </a:r>
              <a:endParaRPr lang="en-IE" b="0" dirty="0">
                <a:solidFill>
                  <a:schemeClr val="accent1"/>
                </a:solidFill>
              </a:endParaRPr>
            </a:p>
            <a:p>
              <a:pPr algn="ctr"/>
              <a:endParaRPr lang="en-IE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863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F935-7AD0-D15A-3968-91D3F935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antupy</a:t>
            </a:r>
            <a:r>
              <a:rPr lang="en-US" dirty="0"/>
              <a:t> modules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6D76-08D1-11E9-67DC-F1DD43A6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lvl="1"/>
            <a:r>
              <a:rPr lang="en-US" dirty="0" err="1"/>
              <a:t>analysers</a:t>
            </a:r>
            <a:endParaRPr lang="en-US" dirty="0"/>
          </a:p>
          <a:p>
            <a:pPr lvl="2"/>
            <a:r>
              <a:rPr lang="en-US" dirty="0"/>
              <a:t>parametric</a:t>
            </a:r>
          </a:p>
          <a:p>
            <a:pPr lvl="2"/>
            <a:r>
              <a:rPr lang="en-US" dirty="0"/>
              <a:t>stochastic</a:t>
            </a:r>
          </a:p>
          <a:p>
            <a:pPr lvl="2"/>
            <a:r>
              <a:rPr lang="en-US" dirty="0"/>
              <a:t>financial</a:t>
            </a:r>
          </a:p>
          <a:p>
            <a:pPr lvl="1"/>
            <a:endParaRPr lang="es-CL" dirty="0"/>
          </a:p>
          <a:p>
            <a:pPr lvl="1"/>
            <a:r>
              <a:rPr lang="es-CL" dirty="0" err="1"/>
              <a:t>ts</a:t>
            </a:r>
            <a:endParaRPr lang="es-CL" dirty="0"/>
          </a:p>
          <a:p>
            <a:pPr lvl="2"/>
            <a:r>
              <a:rPr lang="es-CL" dirty="0" err="1"/>
              <a:t>weather</a:t>
            </a:r>
            <a:endParaRPr lang="es-CL" dirty="0"/>
          </a:p>
          <a:p>
            <a:pPr lvl="2"/>
            <a:r>
              <a:rPr lang="es-CL" dirty="0" err="1"/>
              <a:t>market</a:t>
            </a:r>
            <a:endParaRPr lang="es-CL" dirty="0"/>
          </a:p>
          <a:p>
            <a:pPr lvl="2"/>
            <a:r>
              <a:rPr lang="en-US" dirty="0" err="1"/>
              <a:t>hwd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solvers</a:t>
            </a:r>
          </a:p>
          <a:p>
            <a:pPr lvl="2"/>
            <a:r>
              <a:rPr lang="en-US" dirty="0" err="1"/>
              <a:t>dwh_trnsys</a:t>
            </a:r>
            <a:endParaRPr lang="en-US" dirty="0"/>
          </a:p>
          <a:p>
            <a:pPr lvl="2"/>
            <a:r>
              <a:rPr lang="en-US" dirty="0" err="1"/>
              <a:t>pvlib</a:t>
            </a:r>
            <a:endParaRPr lang="en-US" dirty="0"/>
          </a:p>
          <a:p>
            <a:pPr lvl="2"/>
            <a:r>
              <a:rPr lang="es-CL" dirty="0" err="1"/>
              <a:t>mcrt</a:t>
            </a:r>
            <a:endParaRPr lang="es-CL" dirty="0"/>
          </a:p>
          <a:p>
            <a:pPr lvl="2"/>
            <a:endParaRPr lang="es-CL" dirty="0"/>
          </a:p>
          <a:p>
            <a:pPr lvl="1"/>
            <a:r>
              <a:rPr lang="en-US" dirty="0"/>
              <a:t>models</a:t>
            </a:r>
          </a:p>
          <a:p>
            <a:pPr lvl="2"/>
            <a:r>
              <a:rPr lang="en-US" dirty="0"/>
              <a:t>biomass</a:t>
            </a:r>
          </a:p>
          <a:p>
            <a:pPr lvl="2"/>
            <a:r>
              <a:rPr lang="en-US" dirty="0" err="1"/>
              <a:t>cst</a:t>
            </a:r>
            <a:endParaRPr lang="en-US" dirty="0"/>
          </a:p>
          <a:p>
            <a:pPr lvl="2"/>
            <a:r>
              <a:rPr lang="en-US" dirty="0" err="1"/>
              <a:t>dewh</a:t>
            </a:r>
            <a:endParaRPr lang="en-US" dirty="0"/>
          </a:p>
          <a:p>
            <a:pPr lvl="2"/>
            <a:r>
              <a:rPr lang="en-US" dirty="0"/>
              <a:t>desal: med, </a:t>
            </a:r>
            <a:r>
              <a:rPr lang="en-US" dirty="0" err="1"/>
              <a:t>hdh</a:t>
            </a:r>
            <a:endParaRPr lang="en-US" dirty="0"/>
          </a:p>
          <a:p>
            <a:pPr lvl="2"/>
            <a:r>
              <a:rPr lang="en-US" dirty="0" err="1"/>
              <a:t>pv</a:t>
            </a:r>
            <a:endParaRPr lang="en-US" dirty="0"/>
          </a:p>
          <a:p>
            <a:pPr lvl="2"/>
            <a:r>
              <a:rPr lang="en-US" dirty="0" err="1"/>
              <a:t>stc</a:t>
            </a:r>
            <a:endParaRPr lang="en-US" dirty="0"/>
          </a:p>
          <a:p>
            <a:pPr lvl="2"/>
            <a:r>
              <a:rPr lang="en-US" dirty="0"/>
              <a:t>storage</a:t>
            </a:r>
          </a:p>
          <a:p>
            <a:pPr lvl="2"/>
            <a:r>
              <a:rPr lang="en-US" dirty="0" err="1"/>
              <a:t>tpp</a:t>
            </a:r>
            <a:endParaRPr lang="en-US" dirty="0"/>
          </a:p>
          <a:p>
            <a:pPr lvl="1"/>
            <a:endParaRPr lang="en-US" dirty="0"/>
          </a:p>
          <a:p>
            <a:pPr lvl="2"/>
            <a:endParaRPr lang="es-CL" dirty="0"/>
          </a:p>
          <a:p>
            <a:pPr lvl="1"/>
            <a:r>
              <a:rPr lang="es-CL" dirty="0" err="1"/>
              <a:t>units</a:t>
            </a:r>
            <a:endParaRPr lang="es-CL" dirty="0"/>
          </a:p>
          <a:p>
            <a:pPr lvl="1"/>
            <a:r>
              <a:rPr lang="es-CL" dirty="0" err="1"/>
              <a:t>props</a:t>
            </a:r>
            <a:endParaRPr lang="es-CL" dirty="0"/>
          </a:p>
          <a:p>
            <a:pPr lvl="1"/>
            <a:r>
              <a:rPr lang="es-CL" dirty="0" err="1"/>
              <a:t>protocols</a:t>
            </a:r>
            <a:endParaRPr lang="es-CL" dirty="0"/>
          </a:p>
          <a:p>
            <a:pPr lvl="1"/>
            <a:r>
              <a:rPr lang="es-CL" dirty="0" err="1"/>
              <a:t>location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63721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F935-7AD0-D15A-3968-91D3F935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antupy</a:t>
            </a:r>
            <a:r>
              <a:rPr lang="en-US" dirty="0"/>
              <a:t> roadmap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6D76-08D1-11E9-67DC-F1DD43A6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dispatch model</a:t>
            </a:r>
          </a:p>
          <a:p>
            <a:r>
              <a:rPr lang="en-US" dirty="0"/>
              <a:t>create life-cycle analysis (.</a:t>
            </a:r>
            <a:r>
              <a:rPr lang="en-US" dirty="0" err="1"/>
              <a:t>lca</a:t>
            </a:r>
            <a:r>
              <a:rPr lang="en-US" dirty="0"/>
              <a:t>) module</a:t>
            </a:r>
          </a:p>
          <a:p>
            <a:r>
              <a:rPr lang="en-US" dirty="0"/>
              <a:t>create policy making process module</a:t>
            </a:r>
          </a:p>
          <a:p>
            <a:r>
              <a:rPr lang="en-US" dirty="0"/>
              <a:t>expand weather module</a:t>
            </a:r>
          </a:p>
          <a:p>
            <a:r>
              <a:rPr lang="en-US" dirty="0"/>
              <a:t>geo module (or </a:t>
            </a:r>
            <a:r>
              <a:rPr lang="en-US" dirty="0" err="1"/>
              <a:t>gis</a:t>
            </a:r>
            <a:r>
              <a:rPr lang="en-US" dirty="0"/>
              <a:t> module). integrate python with other open-source </a:t>
            </a:r>
            <a:r>
              <a:rPr lang="en-US" dirty="0" err="1"/>
              <a:t>gis</a:t>
            </a:r>
            <a:r>
              <a:rPr lang="en-US" dirty="0"/>
              <a:t> tools.</a:t>
            </a:r>
          </a:p>
          <a:p>
            <a:r>
              <a:rPr lang="en-US" dirty="0"/>
              <a:t>expand stochastic module.</a:t>
            </a:r>
          </a:p>
          <a:p>
            <a:r>
              <a:rPr lang="en-US" dirty="0"/>
              <a:t>develop full python</a:t>
            </a:r>
          </a:p>
          <a:p>
            <a:r>
              <a:rPr lang="en-US" dirty="0"/>
              <a:t>education module</a:t>
            </a:r>
          </a:p>
        </p:txBody>
      </p:sp>
    </p:spTree>
    <p:extLst>
      <p:ext uri="{BB962C8B-B14F-4D97-AF65-F5344CB8AC3E}">
        <p14:creationId xmlns:p14="http://schemas.microsoft.com/office/powerpoint/2010/main" val="248441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C75E69-6F6E-2DEF-316C-345B0C23C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135" y="554182"/>
            <a:ext cx="11259730" cy="38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46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</TotalTime>
  <Words>267</Words>
  <Application>Microsoft Office PowerPoint</Application>
  <PresentationFormat>Widescreen</PresentationFormat>
  <Paragraphs>116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my ideal research plan</vt:lpstr>
      <vt:lpstr>antupy</vt:lpstr>
      <vt:lpstr>existing code</vt:lpstr>
      <vt:lpstr>existing module architectures</vt:lpstr>
      <vt:lpstr>module architectures example: csp</vt:lpstr>
      <vt:lpstr>antupy modules</vt:lpstr>
      <vt:lpstr>antupy roadmap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Saldivia Salazar</dc:creator>
  <cp:lastModifiedBy>David Saldivia Salazar</cp:lastModifiedBy>
  <cp:revision>3</cp:revision>
  <dcterms:created xsi:type="dcterms:W3CDTF">2024-09-01T16:01:32Z</dcterms:created>
  <dcterms:modified xsi:type="dcterms:W3CDTF">2025-05-19T15:48:57Z</dcterms:modified>
</cp:coreProperties>
</file>