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  <p:sldId id="260" r:id="rId5"/>
    <p:sldId id="261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7E3ECBD-CDCD-4A02-87BE-7F84306A60E6}" v="1" dt="2026-04-09T16:29:10.55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3" autoAdjust="0"/>
    <p:restoredTop sz="94660"/>
  </p:normalViewPr>
  <p:slideViewPr>
    <p:cSldViewPr snapToGrid="0">
      <p:cViewPr varScale="1">
        <p:scale>
          <a:sx n="79" d="100"/>
          <a:sy n="79" d="100"/>
        </p:scale>
        <p:origin x="850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id Saldivia Salazar" userId="7702d5bea18b5005" providerId="LiveId" clId="{3FE40E9F-C1D8-41F8-86FB-8438BBAAC133}"/>
    <pc:docChg chg="undo custSel addSld delSld modSld sldOrd">
      <pc:chgData name="David Saldivia Salazar" userId="7702d5bea18b5005" providerId="LiveId" clId="{3FE40E9F-C1D8-41F8-86FB-8438BBAAC133}" dt="2026-04-09T16:28:57.027" v="669" actId="1038"/>
      <pc:docMkLst>
        <pc:docMk/>
      </pc:docMkLst>
      <pc:sldChg chg="addSp delSp modSp add mod ord">
        <pc:chgData name="David Saldivia Salazar" userId="7702d5bea18b5005" providerId="LiveId" clId="{3FE40E9F-C1D8-41F8-86FB-8438BBAAC133}" dt="2026-04-09T16:28:57.027" v="669" actId="1038"/>
        <pc:sldMkLst>
          <pc:docMk/>
          <pc:sldMk cId="2222423162" sldId="261"/>
        </pc:sldMkLst>
        <pc:spChg chg="mod">
          <ac:chgData name="David Saldivia Salazar" userId="7702d5bea18b5005" providerId="LiveId" clId="{3FE40E9F-C1D8-41F8-86FB-8438BBAAC133}" dt="2026-04-09T16:28:16.440" v="641" actId="1038"/>
          <ac:spMkLst>
            <pc:docMk/>
            <pc:sldMk cId="2222423162" sldId="261"/>
            <ac:spMk id="2" creationId="{71B3E5F6-B4FE-7633-5625-48353B5F120E}"/>
          </ac:spMkLst>
        </pc:spChg>
        <pc:spChg chg="del">
          <ac:chgData name="David Saldivia Salazar" userId="7702d5bea18b5005" providerId="LiveId" clId="{3FE40E9F-C1D8-41F8-86FB-8438BBAAC133}" dt="2026-04-09T16:28:02.825" v="635" actId="478"/>
          <ac:spMkLst>
            <pc:docMk/>
            <pc:sldMk cId="2222423162" sldId="261"/>
            <ac:spMk id="3" creationId="{E557B5D3-646E-10B0-435D-2652F02D8887}"/>
          </ac:spMkLst>
        </pc:spChg>
        <pc:spChg chg="mod topLvl">
          <ac:chgData name="David Saldivia Salazar" userId="7702d5bea18b5005" providerId="LiveId" clId="{3FE40E9F-C1D8-41F8-86FB-8438BBAAC133}" dt="2026-04-09T16:28:53.695" v="665" actId="1038"/>
          <ac:spMkLst>
            <pc:docMk/>
            <pc:sldMk cId="2222423162" sldId="261"/>
            <ac:spMk id="5" creationId="{A941E3E5-7B8E-A89E-E4B9-ACFC1F2E25BC}"/>
          </ac:spMkLst>
        </pc:spChg>
        <pc:spChg chg="mod">
          <ac:chgData name="David Saldivia Salazar" userId="7702d5bea18b5005" providerId="LiveId" clId="{3FE40E9F-C1D8-41F8-86FB-8438BBAAC133}" dt="2026-04-09T16:28:38.831" v="650" actId="693"/>
          <ac:spMkLst>
            <pc:docMk/>
            <pc:sldMk cId="2222423162" sldId="261"/>
            <ac:spMk id="6" creationId="{CDD516AD-A453-D6F4-FF5E-CCD2DA28A785}"/>
          </ac:spMkLst>
        </pc:spChg>
        <pc:spChg chg="mod">
          <ac:chgData name="David Saldivia Salazar" userId="7702d5bea18b5005" providerId="LiveId" clId="{3FE40E9F-C1D8-41F8-86FB-8438BBAAC133}" dt="2026-04-09T16:28:31.319" v="649" actId="693"/>
          <ac:spMkLst>
            <pc:docMk/>
            <pc:sldMk cId="2222423162" sldId="261"/>
            <ac:spMk id="7" creationId="{5024CA8D-09BA-4DC5-EC2E-4B4B1F199AA8}"/>
          </ac:spMkLst>
        </pc:spChg>
        <pc:spChg chg="mod">
          <ac:chgData name="David Saldivia Salazar" userId="7702d5bea18b5005" providerId="LiveId" clId="{3FE40E9F-C1D8-41F8-86FB-8438BBAAC133}" dt="2026-04-09T16:28:57.027" v="669" actId="1038"/>
          <ac:spMkLst>
            <pc:docMk/>
            <pc:sldMk cId="2222423162" sldId="261"/>
            <ac:spMk id="8" creationId="{636B3AAB-9CE1-9957-DF31-58F2778F124E}"/>
          </ac:spMkLst>
        </pc:spChg>
        <pc:spChg chg="mod">
          <ac:chgData name="David Saldivia Salazar" userId="7702d5bea18b5005" providerId="LiveId" clId="{3FE40E9F-C1D8-41F8-86FB-8438BBAAC133}" dt="2026-04-09T16:27:26.590" v="628" actId="1076"/>
          <ac:spMkLst>
            <pc:docMk/>
            <pc:sldMk cId="2222423162" sldId="261"/>
            <ac:spMk id="10" creationId="{E600AAD6-01EB-4536-0618-FCA27F567488}"/>
          </ac:spMkLst>
        </pc:spChg>
        <pc:spChg chg="mod">
          <ac:chgData name="David Saldivia Salazar" userId="7702d5bea18b5005" providerId="LiveId" clId="{3FE40E9F-C1D8-41F8-86FB-8438BBAAC133}" dt="2026-04-09T16:27:43.650" v="631" actId="693"/>
          <ac:spMkLst>
            <pc:docMk/>
            <pc:sldMk cId="2222423162" sldId="261"/>
            <ac:spMk id="12" creationId="{9EB7DE0C-0FD7-E80F-9D94-F3AE0363B77C}"/>
          </ac:spMkLst>
        </pc:spChg>
        <pc:spChg chg="mod">
          <ac:chgData name="David Saldivia Salazar" userId="7702d5bea18b5005" providerId="LiveId" clId="{3FE40E9F-C1D8-41F8-86FB-8438BBAAC133}" dt="2026-04-09T16:28:49.105" v="659" actId="1037"/>
          <ac:spMkLst>
            <pc:docMk/>
            <pc:sldMk cId="2222423162" sldId="261"/>
            <ac:spMk id="16" creationId="{569BD1DC-71BD-6FEB-EAD9-B5ED918C3DD3}"/>
          </ac:spMkLst>
        </pc:spChg>
        <pc:spChg chg="mod">
          <ac:chgData name="David Saldivia Salazar" userId="7702d5bea18b5005" providerId="LiveId" clId="{3FE40E9F-C1D8-41F8-86FB-8438BBAAC133}" dt="2026-04-09T16:28:19.473" v="648" actId="20577"/>
          <ac:spMkLst>
            <pc:docMk/>
            <pc:sldMk cId="2222423162" sldId="261"/>
            <ac:spMk id="17" creationId="{E5613ACE-EBF2-9450-76C4-1B4C63E2AA35}"/>
          </ac:spMkLst>
        </pc:spChg>
        <pc:spChg chg="mod">
          <ac:chgData name="David Saldivia Salazar" userId="7702d5bea18b5005" providerId="LiveId" clId="{3FE40E9F-C1D8-41F8-86FB-8438BBAAC133}" dt="2026-04-09T16:28:16.440" v="641" actId="1038"/>
          <ac:spMkLst>
            <pc:docMk/>
            <pc:sldMk cId="2222423162" sldId="261"/>
            <ac:spMk id="18" creationId="{617FBFD8-0ABA-8A26-A75D-15E2A691D412}"/>
          </ac:spMkLst>
        </pc:spChg>
        <pc:spChg chg="mod">
          <ac:chgData name="David Saldivia Salazar" userId="7702d5bea18b5005" providerId="LiveId" clId="{3FE40E9F-C1D8-41F8-86FB-8438BBAAC133}" dt="2026-04-09T16:28:16.440" v="641" actId="1038"/>
          <ac:spMkLst>
            <pc:docMk/>
            <pc:sldMk cId="2222423162" sldId="261"/>
            <ac:spMk id="19" creationId="{8DA861DE-8C9E-7A41-F399-22685ED78BC2}"/>
          </ac:spMkLst>
        </pc:spChg>
        <pc:spChg chg="mod">
          <ac:chgData name="David Saldivia Salazar" userId="7702d5bea18b5005" providerId="LiveId" clId="{3FE40E9F-C1D8-41F8-86FB-8438BBAAC133}" dt="2026-04-09T16:28:16.440" v="641" actId="1038"/>
          <ac:spMkLst>
            <pc:docMk/>
            <pc:sldMk cId="2222423162" sldId="261"/>
            <ac:spMk id="20" creationId="{86E78440-BB03-BDFB-EE39-A637007A651E}"/>
          </ac:spMkLst>
        </pc:spChg>
        <pc:spChg chg="del">
          <ac:chgData name="David Saldivia Salazar" userId="7702d5bea18b5005" providerId="LiveId" clId="{3FE40E9F-C1D8-41F8-86FB-8438BBAAC133}" dt="2026-04-09T16:27:52.191" v="632" actId="478"/>
          <ac:spMkLst>
            <pc:docMk/>
            <pc:sldMk cId="2222423162" sldId="261"/>
            <ac:spMk id="21" creationId="{A4625A53-A184-6161-593B-B6BF6E934FB6}"/>
          </ac:spMkLst>
        </pc:spChg>
        <pc:spChg chg="mod">
          <ac:chgData name="David Saldivia Salazar" userId="7702d5bea18b5005" providerId="LiveId" clId="{3FE40E9F-C1D8-41F8-86FB-8438BBAAC133}" dt="2026-04-09T16:28:16.440" v="641" actId="1038"/>
          <ac:spMkLst>
            <pc:docMk/>
            <pc:sldMk cId="2222423162" sldId="261"/>
            <ac:spMk id="23" creationId="{F7354F53-62DD-C51D-004C-1AEE1BC87CD3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1888F-6139-9892-33B6-77392DF6BB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D986377-88C6-52E7-7C71-D4A7AE7B89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C31D6D-C577-042B-566B-A8F8A12468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545F80-4238-44B2-8FA4-030309B17934}" type="datetimeFigureOut">
              <a:rPr lang="en-IE" smtClean="0"/>
              <a:t>09/04/2026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9AACF7-8918-C053-47B4-BED4F7694E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B04E9A-7A42-C6B6-5A3F-826E80960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A64BF5-B39E-40E7-BEBB-819625AEF518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8517981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5E4979-35CD-70D5-D248-7FCC0D1E4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60E746-A130-4D65-5220-90961C9CB9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6B8C32-2E88-CB79-F961-A454250D8C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545F80-4238-44B2-8FA4-030309B17934}" type="datetimeFigureOut">
              <a:rPr lang="en-IE" smtClean="0"/>
              <a:t>09/04/2026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3CE2C0-293C-9634-078C-E57C2B7EC8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490D3A-55C6-F372-3F73-E9005861EE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A64BF5-B39E-40E7-BEBB-819625AEF518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43864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C57F3D-41E7-6D68-510D-2B955F633E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34BEF0-F920-CF9C-AF37-710C1DDEF4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32AE8B-3738-D0AE-DBAD-D7B116B34C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545F80-4238-44B2-8FA4-030309B17934}" type="datetimeFigureOut">
              <a:rPr lang="en-IE" smtClean="0"/>
              <a:t>09/04/2026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7D46D4-A6FE-052E-5C9B-6385BAD631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8953A2-9BE1-F35C-54AF-605CC043A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A64BF5-B39E-40E7-BEBB-819625AEF518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528947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E67807-4F15-A03E-90A0-18233ADD84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90E0A5-3DE5-4538-ABC8-AC9D968FDE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086125-6B3F-DBD5-5DC4-E51F2EF6E2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AEDC32-DF5A-E191-91DA-D2310F20E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545F80-4238-44B2-8FA4-030309B17934}" type="datetimeFigureOut">
              <a:rPr lang="en-IE" smtClean="0"/>
              <a:t>09/04/2026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1842A9-AF2F-33BA-3E62-2281751A1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2417DC-A080-0BD1-CDCF-2C86B09BA3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A64BF5-B39E-40E7-BEBB-819625AEF518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3367421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C0CCF8-54AA-C828-38D5-5E7D5EDD24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2695D7-534A-2475-BE8F-3FDF0602B0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2D73C0-E50F-F25F-C5E7-2A07C0734B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8975E06-10E8-0B8E-BD30-813C6ABBA7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610409-D201-019C-5789-25D2BA9DEDE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EF50F2E-53EC-ABCE-8D7C-CD13D9B44C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545F80-4238-44B2-8FA4-030309B17934}" type="datetimeFigureOut">
              <a:rPr lang="en-IE" smtClean="0"/>
              <a:t>09/04/2026</a:t>
            </a:fld>
            <a:endParaRPr lang="en-I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D8F3E6-95A8-9A29-C4EF-22D97E5718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8D7526-8AAB-1A8A-69F6-95FFAC8D93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A64BF5-B39E-40E7-BEBB-819625AEF518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931754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CFF8F2-10D4-19E7-4CFC-62035B9E0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88C56D-F247-C01D-55FF-15519D1843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545F80-4238-44B2-8FA4-030309B17934}" type="datetimeFigureOut">
              <a:rPr lang="en-IE" smtClean="0"/>
              <a:t>09/04/2026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B90730D-432F-A78E-2AE3-EDD4AE6283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12A6BFD-E8E0-5ED8-7826-733CC603F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A64BF5-B39E-40E7-BEBB-819625AEF518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0932900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13BA60F-1904-B685-E2B7-BA26A845F8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545F80-4238-44B2-8FA4-030309B17934}" type="datetimeFigureOut">
              <a:rPr lang="en-IE" smtClean="0"/>
              <a:t>09/04/2026</a:t>
            </a:fld>
            <a:endParaRPr lang="en-I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A3B4FD1-57A6-BA2F-3C49-96AC3D134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582EAF-761A-5913-A366-52D573F8A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A64BF5-B39E-40E7-BEBB-819625AEF518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170436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2B830-D609-F350-EBF1-7FE86A170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B1250C-0FD8-8840-34EB-430237643C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EC93EE-CB69-4DF6-EE5D-E7F9656841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D372CF-64AB-E19F-1314-02A83533AB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545F80-4238-44B2-8FA4-030309B17934}" type="datetimeFigureOut">
              <a:rPr lang="en-IE" smtClean="0"/>
              <a:t>09/04/2026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59DC26-833A-ED3A-4077-EC96DA7870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51055C-50D9-1768-31AD-3CC49F055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A64BF5-B39E-40E7-BEBB-819625AEF518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5533776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6DE743-AAF7-8F93-429F-3A3907D1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5568E5-8CDD-7380-59F8-2682C6E245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272DB1-5717-72B3-89D6-037B765442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8FF58D-F266-3D16-C350-CAC7459AE5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545F80-4238-44B2-8FA4-030309B17934}" type="datetimeFigureOut">
              <a:rPr lang="en-IE" smtClean="0"/>
              <a:t>09/04/2026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44AED2-537B-BC86-D5EB-6B2C977CA4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6A381E-7244-420C-CBF7-1EC7AD3E84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A64BF5-B39E-40E7-BEBB-819625AEF518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163166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127FB-7CD5-94DB-5751-44B8B74BAA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A2A201-1005-3604-E8E2-1C3C90F823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EF495E-11A3-D8E2-66EE-67770EB29F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545F80-4238-44B2-8FA4-030309B17934}" type="datetimeFigureOut">
              <a:rPr lang="en-IE" smtClean="0"/>
              <a:t>09/04/2026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3343BC-B6E7-44BB-776A-CF53461A5D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70433D-0CB3-77F0-DE0B-EA51F258AE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A64BF5-B39E-40E7-BEBB-819625AEF518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0134230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C87009E-D0FF-B724-53CA-91B581CA0D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2527CC-CEFA-C4FD-0EEA-C5F757CD58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5C9827-4623-F0BC-5176-3EE2713EC4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545F80-4238-44B2-8FA4-030309B17934}" type="datetimeFigureOut">
              <a:rPr lang="en-IE" smtClean="0"/>
              <a:t>09/04/2026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1294E3-1327-7782-0ACF-447D414E37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2CD54B-DBED-F700-D21C-70C31A00CC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A64BF5-B39E-40E7-BEBB-819625AEF518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0022531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C808BB8-AA17-85C2-69EE-06291ADB3B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5F6740-58C1-24BD-CC13-F042854004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01D286-E974-5EE7-FFA3-82BE4897E9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545F80-4238-44B2-8FA4-030309B17934}" type="datetimeFigureOut">
              <a:rPr lang="en-IE" smtClean="0"/>
              <a:t>09/04/2026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C9B0DA-60F9-3389-48AA-DD3F6619D9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605A7B-FADA-B163-8945-30AB99A73C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A64BF5-B39E-40E7-BEBB-819625AEF518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134603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24A7D5-56C1-F469-F78F-226A99C30A4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71F30E-ECDA-0CB1-0A22-62852AFF7E8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3905202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5C594D-A501-EAA8-AD2D-59A07105C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CD2C4-EBA7-BD48-70D5-31D051C99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phd</a:t>
            </a:r>
            <a:r>
              <a:rPr lang="en-US" dirty="0"/>
              <a:t> code</a:t>
            </a:r>
            <a:endParaRPr lang="en-IE" dirty="0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9B48BF3B-A25F-6AD4-7789-AFF2E77D8341}"/>
              </a:ext>
            </a:extLst>
          </p:cNvPr>
          <p:cNvGrpSpPr/>
          <p:nvPr/>
        </p:nvGrpSpPr>
        <p:grpSpPr>
          <a:xfrm>
            <a:off x="465872" y="1611267"/>
            <a:ext cx="5630128" cy="5053088"/>
            <a:chOff x="465872" y="1614489"/>
            <a:chExt cx="2732049" cy="5053088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B1DA4A3E-C7E9-77CB-FFEC-23B8A769C626}"/>
                </a:ext>
              </a:extLst>
            </p:cNvPr>
            <p:cNvSpPr/>
            <p:nvPr/>
          </p:nvSpPr>
          <p:spPr>
            <a:xfrm>
              <a:off x="465872" y="1614489"/>
              <a:ext cx="2732049" cy="5053088"/>
            </a:xfrm>
            <a:prstGeom prst="roundRect">
              <a:avLst>
                <a:gd name="adj" fmla="val 6212"/>
              </a:avLst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IE" dirty="0"/>
                <a:t>CSP Plant</a:t>
              </a:r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47CB1C96-CEA9-458A-31F4-6DFC40FE18CA}"/>
                </a:ext>
              </a:extLst>
            </p:cNvPr>
            <p:cNvSpPr/>
            <p:nvPr/>
          </p:nvSpPr>
          <p:spPr>
            <a:xfrm>
              <a:off x="950949" y="5547392"/>
              <a:ext cx="1761893" cy="501805"/>
            </a:xfrm>
            <a:prstGeom prst="round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accent5"/>
                  </a:solidFill>
                </a:rPr>
                <a:t>weather data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150E3438-B061-1B5F-BE2D-2210C0924004}"/>
                </a:ext>
              </a:extLst>
            </p:cNvPr>
            <p:cNvSpPr/>
            <p:nvPr/>
          </p:nvSpPr>
          <p:spPr>
            <a:xfrm>
              <a:off x="950949" y="4040436"/>
              <a:ext cx="1761893" cy="501805"/>
            </a:xfrm>
            <a:prstGeom prst="round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accent2"/>
                  </a:solidFill>
                </a:rPr>
                <a:t>thermal analysis (particle receiver)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3C5DBDEE-4B43-8536-ABF3-5391AD62B864}"/>
                </a:ext>
              </a:extLst>
            </p:cNvPr>
            <p:cNvSpPr/>
            <p:nvPr/>
          </p:nvSpPr>
          <p:spPr>
            <a:xfrm>
              <a:off x="950949" y="4618257"/>
              <a:ext cx="1761894" cy="501805"/>
            </a:xfrm>
            <a:prstGeom prst="round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accent2"/>
                  </a:solidFill>
                </a:rPr>
                <a:t>power generation (dispatch)</a:t>
              </a: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19BC2A04-C430-6143-D950-A7C0993C8743}"/>
                </a:ext>
              </a:extLst>
            </p:cNvPr>
            <p:cNvSpPr/>
            <p:nvPr/>
          </p:nvSpPr>
          <p:spPr>
            <a:xfrm>
              <a:off x="950949" y="3480344"/>
              <a:ext cx="1761893" cy="501805"/>
            </a:xfrm>
            <a:prstGeom prst="round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accent2"/>
                  </a:solidFill>
                </a:rPr>
                <a:t>optical analysis (beam down)</a:t>
              </a: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3FF75557-ADDC-7AA9-6DD9-CCDE1997AE86}"/>
                </a:ext>
              </a:extLst>
            </p:cNvPr>
            <p:cNvSpPr/>
            <p:nvPr/>
          </p:nvSpPr>
          <p:spPr>
            <a:xfrm>
              <a:off x="950950" y="6094183"/>
              <a:ext cx="1761894" cy="501805"/>
            </a:xfrm>
            <a:prstGeom prst="round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accent5"/>
                  </a:solidFill>
                </a:rPr>
                <a:t>market data</a:t>
              </a: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9ACEFC5F-A964-5B71-EAD6-97725EB6048C}"/>
                </a:ext>
              </a:extLst>
            </p:cNvPr>
            <p:cNvSpPr/>
            <p:nvPr/>
          </p:nvSpPr>
          <p:spPr>
            <a:xfrm>
              <a:off x="950949" y="2109645"/>
              <a:ext cx="1761893" cy="501805"/>
            </a:xfrm>
            <a:prstGeom prst="round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accent1"/>
                  </a:solidFill>
                </a:rPr>
                <a:t>settings</a:t>
              </a:r>
            </a:p>
          </p:txBody>
        </p:sp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657F5B9B-5A7B-425E-5D00-F7BE60CDBCF4}"/>
                </a:ext>
              </a:extLst>
            </p:cNvPr>
            <p:cNvSpPr/>
            <p:nvPr/>
          </p:nvSpPr>
          <p:spPr>
            <a:xfrm>
              <a:off x="950949" y="2676116"/>
              <a:ext cx="1761893" cy="501805"/>
            </a:xfrm>
            <a:prstGeom prst="round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accent1"/>
                  </a:solidFill>
                </a:rPr>
                <a:t>location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777956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DB06E-6239-3F2C-7E97-76ABA3BCE1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existing module architectures</a:t>
            </a:r>
            <a:endParaRPr lang="en-IE" dirty="0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B6632C65-8B2D-1F82-0826-B4B7F21BA203}"/>
              </a:ext>
            </a:extLst>
          </p:cNvPr>
          <p:cNvGrpSpPr/>
          <p:nvPr/>
        </p:nvGrpSpPr>
        <p:grpSpPr>
          <a:xfrm>
            <a:off x="3383767" y="1576465"/>
            <a:ext cx="2732049" cy="5167312"/>
            <a:chOff x="3383767" y="1576465"/>
            <a:chExt cx="2732049" cy="5167312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01E56B78-3CF5-15E6-C035-BCF9A5BECF4B}"/>
                </a:ext>
              </a:extLst>
            </p:cNvPr>
            <p:cNvSpPr/>
            <p:nvPr/>
          </p:nvSpPr>
          <p:spPr>
            <a:xfrm>
              <a:off x="3383767" y="1576465"/>
              <a:ext cx="2732049" cy="5167312"/>
            </a:xfrm>
            <a:prstGeom prst="round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IE" dirty="0"/>
                <a:t>DEWH</a:t>
              </a: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F62E8FA5-AD57-3496-D7CE-2452398DDB03}"/>
                </a:ext>
              </a:extLst>
            </p:cNvPr>
            <p:cNvSpPr/>
            <p:nvPr/>
          </p:nvSpPr>
          <p:spPr>
            <a:xfrm>
              <a:off x="3868849" y="2126670"/>
              <a:ext cx="1761893" cy="501805"/>
            </a:xfrm>
            <a:prstGeom prst="round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accent1"/>
                  </a:solidFill>
                </a:rPr>
                <a:t>Settings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92B23FFA-D685-E1FA-0174-E576894B4EFA}"/>
                </a:ext>
              </a:extLst>
            </p:cNvPr>
            <p:cNvSpPr/>
            <p:nvPr/>
          </p:nvSpPr>
          <p:spPr>
            <a:xfrm>
              <a:off x="3868844" y="2714909"/>
              <a:ext cx="1761893" cy="501805"/>
            </a:xfrm>
            <a:prstGeom prst="round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accent1"/>
                  </a:solidFill>
                </a:rPr>
                <a:t>Location</a:t>
              </a: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00ACC886-26DB-B85F-06C1-50E6BEF005B3}"/>
                </a:ext>
              </a:extLst>
            </p:cNvPr>
            <p:cNvSpPr/>
            <p:nvPr/>
          </p:nvSpPr>
          <p:spPr>
            <a:xfrm>
              <a:off x="3868846" y="4428275"/>
              <a:ext cx="1761893" cy="501805"/>
            </a:xfrm>
            <a:prstGeom prst="round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accent2"/>
                  </a:solidFill>
                </a:rPr>
                <a:t>Control</a:t>
              </a: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9FE43E71-6B34-B56A-237D-E1AA30589C0B}"/>
                </a:ext>
              </a:extLst>
            </p:cNvPr>
            <p:cNvSpPr/>
            <p:nvPr/>
          </p:nvSpPr>
          <p:spPr>
            <a:xfrm>
              <a:off x="3868846" y="5006204"/>
              <a:ext cx="1761893" cy="501805"/>
            </a:xfrm>
            <a:prstGeom prst="round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accent2"/>
                  </a:solidFill>
                </a:rPr>
                <a:t>DEWH</a:t>
              </a:r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6495EA7B-423E-EBC2-EB65-4DFF35FC395F}"/>
                </a:ext>
              </a:extLst>
            </p:cNvPr>
            <p:cNvSpPr/>
            <p:nvPr/>
          </p:nvSpPr>
          <p:spPr>
            <a:xfrm>
              <a:off x="3868846" y="5576046"/>
              <a:ext cx="1761893" cy="501805"/>
            </a:xfrm>
            <a:prstGeom prst="round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dirty="0" err="1">
                  <a:solidFill>
                    <a:schemeClr val="accent2"/>
                  </a:solidFill>
                </a:rPr>
                <a:t>PVSystem</a:t>
              </a:r>
              <a:endParaRPr lang="en-IE" dirty="0">
                <a:solidFill>
                  <a:schemeClr val="accent2"/>
                </a:solidFill>
              </a:endParaRPr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45CBA6FC-BF96-67E8-A1B8-C8FD88875E50}"/>
                </a:ext>
              </a:extLst>
            </p:cNvPr>
            <p:cNvSpPr/>
            <p:nvPr/>
          </p:nvSpPr>
          <p:spPr>
            <a:xfrm>
              <a:off x="3868846" y="6140372"/>
              <a:ext cx="1761894" cy="501805"/>
            </a:xfrm>
            <a:prstGeom prst="round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accent5"/>
                  </a:solidFill>
                </a:rPr>
                <a:t>Market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38BEACDB-94C2-A5F9-242E-B4A660CDC40C}"/>
                </a:ext>
              </a:extLst>
            </p:cNvPr>
            <p:cNvSpPr/>
            <p:nvPr/>
          </p:nvSpPr>
          <p:spPr>
            <a:xfrm>
              <a:off x="3868843" y="3280504"/>
              <a:ext cx="1761893" cy="501805"/>
            </a:xfrm>
            <a:prstGeom prst="round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accent5"/>
                  </a:solidFill>
                </a:rPr>
                <a:t>Weather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C6B1A716-1BA0-D3E0-D8AD-41A8E5703B3C}"/>
                </a:ext>
              </a:extLst>
            </p:cNvPr>
            <p:cNvSpPr/>
            <p:nvPr/>
          </p:nvSpPr>
          <p:spPr>
            <a:xfrm>
              <a:off x="3868846" y="3850346"/>
              <a:ext cx="1761893" cy="501805"/>
            </a:xfrm>
            <a:prstGeom prst="round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accent5"/>
                  </a:solidFill>
                </a:rPr>
                <a:t>HWDP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BE7BE618-0E11-8A12-4395-20A971711CE9}"/>
              </a:ext>
            </a:extLst>
          </p:cNvPr>
          <p:cNvGrpSpPr/>
          <p:nvPr/>
        </p:nvGrpSpPr>
        <p:grpSpPr>
          <a:xfrm>
            <a:off x="465872" y="1614489"/>
            <a:ext cx="2732049" cy="5053088"/>
            <a:chOff x="465872" y="1614489"/>
            <a:chExt cx="2732049" cy="5053088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C3EA13C2-952C-A74C-04E2-0EEC64D40398}"/>
                </a:ext>
              </a:extLst>
            </p:cNvPr>
            <p:cNvSpPr/>
            <p:nvPr/>
          </p:nvSpPr>
          <p:spPr>
            <a:xfrm>
              <a:off x="465872" y="1614489"/>
              <a:ext cx="2732049" cy="5053088"/>
            </a:xfrm>
            <a:prstGeom prst="round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IE" dirty="0" err="1"/>
                <a:t>PlantCSP</a:t>
              </a:r>
              <a:endParaRPr lang="en-IE" dirty="0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D5EDF7B1-5FB2-42DC-8966-F8934614CA3E}"/>
                </a:ext>
              </a:extLst>
            </p:cNvPr>
            <p:cNvSpPr/>
            <p:nvPr/>
          </p:nvSpPr>
          <p:spPr>
            <a:xfrm>
              <a:off x="950952" y="3253059"/>
              <a:ext cx="1761893" cy="501805"/>
            </a:xfrm>
            <a:prstGeom prst="round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accent5"/>
                  </a:solidFill>
                </a:rPr>
                <a:t>Weather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AC6DDA8C-B32E-4A11-6242-162DA4F0D4A1}"/>
                </a:ext>
              </a:extLst>
            </p:cNvPr>
            <p:cNvSpPr/>
            <p:nvPr/>
          </p:nvSpPr>
          <p:spPr>
            <a:xfrm>
              <a:off x="950951" y="4390278"/>
              <a:ext cx="1761893" cy="501805"/>
            </a:xfrm>
            <a:prstGeom prst="round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accent2"/>
                  </a:solidFill>
                </a:rPr>
                <a:t>Receiver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40528BCC-1630-29A9-07F0-C23F9AD6281C}"/>
                </a:ext>
              </a:extLst>
            </p:cNvPr>
            <p:cNvSpPr/>
            <p:nvPr/>
          </p:nvSpPr>
          <p:spPr>
            <a:xfrm>
              <a:off x="950950" y="4949067"/>
              <a:ext cx="1761894" cy="501805"/>
            </a:xfrm>
            <a:prstGeom prst="round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accent2"/>
                  </a:solidFill>
                </a:rPr>
                <a:t>Storage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0D05ECB8-196C-721C-99B5-6BC4BFE6F586}"/>
                </a:ext>
              </a:extLst>
            </p:cNvPr>
            <p:cNvSpPr/>
            <p:nvPr/>
          </p:nvSpPr>
          <p:spPr>
            <a:xfrm>
              <a:off x="950950" y="5515538"/>
              <a:ext cx="1761894" cy="501805"/>
            </a:xfrm>
            <a:prstGeom prst="round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dirty="0" err="1">
                  <a:solidFill>
                    <a:schemeClr val="accent2"/>
                  </a:solidFill>
                </a:rPr>
                <a:t>PowerBlock</a:t>
              </a:r>
              <a:endParaRPr lang="en-IE" dirty="0">
                <a:solidFill>
                  <a:schemeClr val="accent2"/>
                </a:solidFill>
              </a:endParaRP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65B93AE6-6057-4A02-754E-7423EC2A8D08}"/>
                </a:ext>
              </a:extLst>
            </p:cNvPr>
            <p:cNvSpPr/>
            <p:nvPr/>
          </p:nvSpPr>
          <p:spPr>
            <a:xfrm>
              <a:off x="950951" y="3831489"/>
              <a:ext cx="1761893" cy="501805"/>
            </a:xfrm>
            <a:prstGeom prst="round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dirty="0" err="1">
                  <a:solidFill>
                    <a:schemeClr val="accent2"/>
                  </a:solidFill>
                </a:rPr>
                <a:t>OpticalSystem</a:t>
              </a:r>
              <a:endParaRPr lang="en-IE" dirty="0">
                <a:solidFill>
                  <a:schemeClr val="accent2"/>
                </a:solidFill>
              </a:endParaRP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3DF61A14-E8AD-F12A-F9D0-3B35656B0E8E}"/>
                </a:ext>
              </a:extLst>
            </p:cNvPr>
            <p:cNvSpPr/>
            <p:nvPr/>
          </p:nvSpPr>
          <p:spPr>
            <a:xfrm>
              <a:off x="950950" y="6094183"/>
              <a:ext cx="1761894" cy="501805"/>
            </a:xfrm>
            <a:prstGeom prst="round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accent5"/>
                  </a:solidFill>
                </a:rPr>
                <a:t>Market</a:t>
              </a: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FE4A9761-134A-6C68-5439-4A991A9047B5}"/>
                </a:ext>
              </a:extLst>
            </p:cNvPr>
            <p:cNvSpPr/>
            <p:nvPr/>
          </p:nvSpPr>
          <p:spPr>
            <a:xfrm>
              <a:off x="950949" y="2109645"/>
              <a:ext cx="1761893" cy="501805"/>
            </a:xfrm>
            <a:prstGeom prst="round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accent1"/>
                  </a:solidFill>
                </a:rPr>
                <a:t>Settings</a:t>
              </a:r>
            </a:p>
          </p:txBody>
        </p:sp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C4E967BD-1DDD-24A8-54D2-9E26F36FF367}"/>
                </a:ext>
              </a:extLst>
            </p:cNvPr>
            <p:cNvSpPr/>
            <p:nvPr/>
          </p:nvSpPr>
          <p:spPr>
            <a:xfrm>
              <a:off x="950949" y="2676116"/>
              <a:ext cx="1761893" cy="501805"/>
            </a:xfrm>
            <a:prstGeom prst="round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accent1"/>
                  </a:solidFill>
                </a:rPr>
                <a:t>Location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E6ED06A7-32A6-8373-3247-36BA39DD1228}"/>
              </a:ext>
            </a:extLst>
          </p:cNvPr>
          <p:cNvGrpSpPr/>
          <p:nvPr/>
        </p:nvGrpSpPr>
        <p:grpSpPr>
          <a:xfrm>
            <a:off x="6301662" y="1576465"/>
            <a:ext cx="2732049" cy="4202035"/>
            <a:chOff x="6301662" y="1576465"/>
            <a:chExt cx="2732049" cy="4202035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53B0F28A-B4C7-EA7C-0057-AA6FF43E78AF}"/>
                </a:ext>
              </a:extLst>
            </p:cNvPr>
            <p:cNvSpPr/>
            <p:nvPr/>
          </p:nvSpPr>
          <p:spPr>
            <a:xfrm>
              <a:off x="6301662" y="1576465"/>
              <a:ext cx="2732049" cy="4202035"/>
            </a:xfrm>
            <a:prstGeom prst="round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IE" dirty="0"/>
                <a:t>MED-Solar</a:t>
              </a:r>
            </a:p>
          </p:txBody>
        </p:sp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EC4F3EA9-8516-5629-5E5E-EE4ED9D0183C}"/>
                </a:ext>
              </a:extLst>
            </p:cNvPr>
            <p:cNvSpPr/>
            <p:nvPr/>
          </p:nvSpPr>
          <p:spPr>
            <a:xfrm>
              <a:off x="6789849" y="2126670"/>
              <a:ext cx="1761893" cy="501805"/>
            </a:xfrm>
            <a:prstGeom prst="round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accent1"/>
                  </a:solidFill>
                </a:rPr>
                <a:t>Settings</a:t>
              </a:r>
            </a:p>
          </p:txBody>
        </p:sp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D19A5861-F1FC-C19F-A36F-57668C224537}"/>
                </a:ext>
              </a:extLst>
            </p:cNvPr>
            <p:cNvSpPr/>
            <p:nvPr/>
          </p:nvSpPr>
          <p:spPr>
            <a:xfrm>
              <a:off x="6789844" y="2714909"/>
              <a:ext cx="1761893" cy="501805"/>
            </a:xfrm>
            <a:prstGeom prst="round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accent1"/>
                  </a:solidFill>
                </a:rPr>
                <a:t>Location</a:t>
              </a:r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006246F9-993D-0B9A-3C6E-E0CFF21C520F}"/>
                </a:ext>
              </a:extLst>
            </p:cNvPr>
            <p:cNvSpPr/>
            <p:nvPr/>
          </p:nvSpPr>
          <p:spPr>
            <a:xfrm>
              <a:off x="6786739" y="3868743"/>
              <a:ext cx="1761893" cy="501805"/>
            </a:xfrm>
            <a:prstGeom prst="round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accent2"/>
                  </a:solidFill>
                </a:rPr>
                <a:t>PTC</a:t>
              </a:r>
            </a:p>
          </p:txBody>
        </p:sp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9BFB76D7-B9BD-176A-487F-FD77F7C77165}"/>
                </a:ext>
              </a:extLst>
            </p:cNvPr>
            <p:cNvSpPr/>
            <p:nvPr/>
          </p:nvSpPr>
          <p:spPr>
            <a:xfrm>
              <a:off x="6786739" y="4481727"/>
              <a:ext cx="1761893" cy="501805"/>
            </a:xfrm>
            <a:prstGeom prst="round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accent2"/>
                  </a:solidFill>
                </a:rPr>
                <a:t>MED</a:t>
              </a:r>
            </a:p>
          </p:txBody>
        </p:sp>
        <p:sp>
          <p:nvSpPr>
            <p:cNvPr id="34" name="Rectangle: Rounded Corners 33">
              <a:extLst>
                <a:ext uri="{FF2B5EF4-FFF2-40B4-BE49-F238E27FC236}">
                  <a16:creationId xmlns:a16="http://schemas.microsoft.com/office/drawing/2014/main" id="{2C3B487D-7B4E-4BC5-7F4D-F242125B5150}"/>
                </a:ext>
              </a:extLst>
            </p:cNvPr>
            <p:cNvSpPr/>
            <p:nvPr/>
          </p:nvSpPr>
          <p:spPr>
            <a:xfrm>
              <a:off x="6786738" y="5074241"/>
              <a:ext cx="1761894" cy="501805"/>
            </a:xfrm>
            <a:prstGeom prst="round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accent5"/>
                  </a:solidFill>
                </a:rPr>
                <a:t>Market</a:t>
              </a:r>
            </a:p>
          </p:txBody>
        </p:sp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BC462F86-B144-2AB9-2267-7FFE18EC71C0}"/>
                </a:ext>
              </a:extLst>
            </p:cNvPr>
            <p:cNvSpPr/>
            <p:nvPr/>
          </p:nvSpPr>
          <p:spPr>
            <a:xfrm>
              <a:off x="6789843" y="3280504"/>
              <a:ext cx="1761893" cy="501805"/>
            </a:xfrm>
            <a:prstGeom prst="round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accent5"/>
                  </a:solidFill>
                </a:rPr>
                <a:t>Weather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937D759-E297-45D5-A433-8D5CB3DFBB5C}"/>
              </a:ext>
            </a:extLst>
          </p:cNvPr>
          <p:cNvGrpSpPr/>
          <p:nvPr/>
        </p:nvGrpSpPr>
        <p:grpSpPr>
          <a:xfrm>
            <a:off x="9336962" y="1576465"/>
            <a:ext cx="2732049" cy="4202035"/>
            <a:chOff x="9336962" y="1576465"/>
            <a:chExt cx="2732049" cy="4202035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3FFFFB88-F2EB-57A1-E43C-77240FF7E545}"/>
                </a:ext>
              </a:extLst>
            </p:cNvPr>
            <p:cNvSpPr/>
            <p:nvPr/>
          </p:nvSpPr>
          <p:spPr>
            <a:xfrm>
              <a:off x="9336962" y="1576465"/>
              <a:ext cx="2732049" cy="4202035"/>
            </a:xfrm>
            <a:prstGeom prst="round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IE" dirty="0"/>
                <a:t>CAES</a:t>
              </a:r>
            </a:p>
          </p:txBody>
        </p:sp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B075F9B0-89F4-4B63-5E23-B7F04CF45FD0}"/>
                </a:ext>
              </a:extLst>
            </p:cNvPr>
            <p:cNvSpPr/>
            <p:nvPr/>
          </p:nvSpPr>
          <p:spPr>
            <a:xfrm>
              <a:off x="9825149" y="2126670"/>
              <a:ext cx="1761893" cy="501805"/>
            </a:xfrm>
            <a:prstGeom prst="round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accent1"/>
                  </a:solidFill>
                </a:rPr>
                <a:t>Settings</a:t>
              </a:r>
            </a:p>
          </p:txBody>
        </p:sp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71476E60-46A5-8351-70E9-0F31E36DB2E6}"/>
                </a:ext>
              </a:extLst>
            </p:cNvPr>
            <p:cNvSpPr/>
            <p:nvPr/>
          </p:nvSpPr>
          <p:spPr>
            <a:xfrm>
              <a:off x="9825144" y="2714909"/>
              <a:ext cx="1761893" cy="501805"/>
            </a:xfrm>
            <a:prstGeom prst="round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accent1"/>
                  </a:solidFill>
                </a:rPr>
                <a:t>Location</a:t>
              </a:r>
            </a:p>
          </p:txBody>
        </p: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5D6D9959-0FCF-D180-BE28-37D2B56F61C5}"/>
                </a:ext>
              </a:extLst>
            </p:cNvPr>
            <p:cNvSpPr/>
            <p:nvPr/>
          </p:nvSpPr>
          <p:spPr>
            <a:xfrm>
              <a:off x="9822039" y="3868743"/>
              <a:ext cx="1761893" cy="501805"/>
            </a:xfrm>
            <a:prstGeom prst="round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accent2"/>
                  </a:solidFill>
                </a:rPr>
                <a:t>CAES</a:t>
              </a:r>
            </a:p>
          </p:txBody>
        </p:sp>
        <p:sp>
          <p:nvSpPr>
            <p:cNvPr id="41" name="Rectangle: Rounded Corners 40">
              <a:extLst>
                <a:ext uri="{FF2B5EF4-FFF2-40B4-BE49-F238E27FC236}">
                  <a16:creationId xmlns:a16="http://schemas.microsoft.com/office/drawing/2014/main" id="{8F74EA40-F44E-2E38-9FBB-4D1D6F8BAE50}"/>
                </a:ext>
              </a:extLst>
            </p:cNvPr>
            <p:cNvSpPr/>
            <p:nvPr/>
          </p:nvSpPr>
          <p:spPr>
            <a:xfrm>
              <a:off x="9822039" y="4466477"/>
              <a:ext cx="1761894" cy="501805"/>
            </a:xfrm>
            <a:prstGeom prst="round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accent5"/>
                  </a:solidFill>
                </a:rPr>
                <a:t>Market</a:t>
              </a:r>
            </a:p>
          </p:txBody>
        </p:sp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C540D844-2E26-5EBA-07CF-B0D198E37699}"/>
                </a:ext>
              </a:extLst>
            </p:cNvPr>
            <p:cNvSpPr/>
            <p:nvPr/>
          </p:nvSpPr>
          <p:spPr>
            <a:xfrm>
              <a:off x="9825143" y="3280504"/>
              <a:ext cx="1761893" cy="501805"/>
            </a:xfrm>
            <a:prstGeom prst="round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accent5"/>
                  </a:solidFill>
                </a:rPr>
                <a:t>Weather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688664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7CB1E1-A632-59F3-9DA2-B3462351D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06BF8E8E-F8E4-301B-0FE3-CEBBA9126003}"/>
              </a:ext>
            </a:extLst>
          </p:cNvPr>
          <p:cNvSpPr/>
          <p:nvPr/>
        </p:nvSpPr>
        <p:spPr>
          <a:xfrm>
            <a:off x="3466509" y="1613777"/>
            <a:ext cx="7964449" cy="5053088"/>
          </a:xfrm>
          <a:prstGeom prst="roundRect">
            <a:avLst>
              <a:gd name="adj" fmla="val 415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IE" dirty="0"/>
              <a:t>Process</a:t>
            </a: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206CEBD7-8930-BE17-C414-BACF8E421868}"/>
              </a:ext>
            </a:extLst>
          </p:cNvPr>
          <p:cNvSpPr/>
          <p:nvPr/>
        </p:nvSpPr>
        <p:spPr>
          <a:xfrm>
            <a:off x="3682998" y="2345744"/>
            <a:ext cx="5422500" cy="3975100"/>
          </a:xfrm>
          <a:prstGeom prst="roundRect">
            <a:avLst>
              <a:gd name="adj" fmla="val 6443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IE" dirty="0">
                <a:solidFill>
                  <a:schemeClr val="accent1"/>
                </a:solidFill>
              </a:rPr>
              <a:t>Parametric Analysis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BBF4F35-0FA7-C8AB-FBB2-67BEC10843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architectures example: </a:t>
            </a:r>
            <a:r>
              <a:rPr lang="en-US" dirty="0" err="1"/>
              <a:t>csp</a:t>
            </a:r>
            <a:endParaRPr lang="en-IE" dirty="0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7FF7DC96-F725-1F23-9F0D-5952DE65AB7C}"/>
              </a:ext>
            </a:extLst>
          </p:cNvPr>
          <p:cNvGrpSpPr/>
          <p:nvPr/>
        </p:nvGrpSpPr>
        <p:grpSpPr>
          <a:xfrm>
            <a:off x="465872" y="1614489"/>
            <a:ext cx="2732049" cy="5053088"/>
            <a:chOff x="465872" y="1614489"/>
            <a:chExt cx="2732049" cy="5053088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FF8E6E1B-F22D-DD2E-A474-6152813FF519}"/>
                </a:ext>
              </a:extLst>
            </p:cNvPr>
            <p:cNvSpPr/>
            <p:nvPr/>
          </p:nvSpPr>
          <p:spPr>
            <a:xfrm>
              <a:off x="465872" y="1614489"/>
              <a:ext cx="2732049" cy="5053088"/>
            </a:xfrm>
            <a:prstGeom prst="round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IE" dirty="0" err="1"/>
                <a:t>PlantCSP</a:t>
              </a:r>
              <a:endParaRPr lang="en-IE" dirty="0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3C8DD465-014F-99E6-10DF-6D94025E8E0F}"/>
                </a:ext>
              </a:extLst>
            </p:cNvPr>
            <p:cNvSpPr/>
            <p:nvPr/>
          </p:nvSpPr>
          <p:spPr>
            <a:xfrm>
              <a:off x="950952" y="3253059"/>
              <a:ext cx="1761893" cy="501805"/>
            </a:xfrm>
            <a:prstGeom prst="round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accent5"/>
                  </a:solidFill>
                </a:rPr>
                <a:t>Weather</a:t>
              </a: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008562DD-62A5-55AF-8001-03F3FEA9ACF6}"/>
                </a:ext>
              </a:extLst>
            </p:cNvPr>
            <p:cNvSpPr/>
            <p:nvPr/>
          </p:nvSpPr>
          <p:spPr>
            <a:xfrm>
              <a:off x="950951" y="4390278"/>
              <a:ext cx="1761893" cy="501805"/>
            </a:xfrm>
            <a:prstGeom prst="round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accent2"/>
                  </a:solidFill>
                </a:rPr>
                <a:t>Receiver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2DB86097-B741-0779-DF32-4A2640F7A0E1}"/>
                </a:ext>
              </a:extLst>
            </p:cNvPr>
            <p:cNvSpPr/>
            <p:nvPr/>
          </p:nvSpPr>
          <p:spPr>
            <a:xfrm>
              <a:off x="950950" y="4949067"/>
              <a:ext cx="1761894" cy="501805"/>
            </a:xfrm>
            <a:prstGeom prst="round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accent2"/>
                  </a:solidFill>
                </a:rPr>
                <a:t>Storage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F63ED1C3-1744-9C8A-97F9-10CD852BE587}"/>
                </a:ext>
              </a:extLst>
            </p:cNvPr>
            <p:cNvSpPr/>
            <p:nvPr/>
          </p:nvSpPr>
          <p:spPr>
            <a:xfrm>
              <a:off x="950950" y="5515538"/>
              <a:ext cx="1761894" cy="501805"/>
            </a:xfrm>
            <a:prstGeom prst="round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dirty="0" err="1">
                  <a:solidFill>
                    <a:schemeClr val="accent2"/>
                  </a:solidFill>
                </a:rPr>
                <a:t>PowerBlock</a:t>
              </a:r>
              <a:endParaRPr lang="en-IE" dirty="0">
                <a:solidFill>
                  <a:schemeClr val="accent2"/>
                </a:solidFill>
              </a:endParaRP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B4BCC67B-ECAC-B149-3362-4E00F96E94AF}"/>
                </a:ext>
              </a:extLst>
            </p:cNvPr>
            <p:cNvSpPr/>
            <p:nvPr/>
          </p:nvSpPr>
          <p:spPr>
            <a:xfrm>
              <a:off x="950951" y="3831489"/>
              <a:ext cx="1761893" cy="501805"/>
            </a:xfrm>
            <a:prstGeom prst="round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dirty="0" err="1">
                  <a:solidFill>
                    <a:schemeClr val="accent2"/>
                  </a:solidFill>
                </a:rPr>
                <a:t>OpticalSystem</a:t>
              </a:r>
              <a:endParaRPr lang="en-IE" dirty="0">
                <a:solidFill>
                  <a:schemeClr val="accent2"/>
                </a:solidFill>
              </a:endParaRP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8801F8D7-B6D4-6BEB-6762-A4DB5E57D13D}"/>
                </a:ext>
              </a:extLst>
            </p:cNvPr>
            <p:cNvSpPr/>
            <p:nvPr/>
          </p:nvSpPr>
          <p:spPr>
            <a:xfrm>
              <a:off x="950950" y="6094183"/>
              <a:ext cx="1761894" cy="501805"/>
            </a:xfrm>
            <a:prstGeom prst="round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accent5"/>
                  </a:solidFill>
                </a:rPr>
                <a:t>Market</a:t>
              </a: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67DBC6AF-4066-B7FC-FBE1-EBB13FDF5D5F}"/>
                </a:ext>
              </a:extLst>
            </p:cNvPr>
            <p:cNvSpPr/>
            <p:nvPr/>
          </p:nvSpPr>
          <p:spPr>
            <a:xfrm>
              <a:off x="950949" y="2109645"/>
              <a:ext cx="1761893" cy="501805"/>
            </a:xfrm>
            <a:prstGeom prst="round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accent1"/>
                  </a:solidFill>
                </a:rPr>
                <a:t>Settings</a:t>
              </a:r>
            </a:p>
          </p:txBody>
        </p:sp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4462592B-FD93-14EF-5593-CECF03D249EC}"/>
                </a:ext>
              </a:extLst>
            </p:cNvPr>
            <p:cNvSpPr/>
            <p:nvPr/>
          </p:nvSpPr>
          <p:spPr>
            <a:xfrm>
              <a:off x="950949" y="2676116"/>
              <a:ext cx="1761893" cy="501805"/>
            </a:xfrm>
            <a:prstGeom prst="round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accent1"/>
                  </a:solidFill>
                </a:rPr>
                <a:t>Location</a:t>
              </a:r>
            </a:p>
          </p:txBody>
        </p:sp>
      </p:grp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6DB827C8-F43F-C32C-E9EA-A5B4CC109036}"/>
              </a:ext>
            </a:extLst>
          </p:cNvPr>
          <p:cNvSpPr/>
          <p:nvPr/>
        </p:nvSpPr>
        <p:spPr>
          <a:xfrm>
            <a:off x="4080630" y="2917120"/>
            <a:ext cx="3491200" cy="3257548"/>
          </a:xfrm>
          <a:prstGeom prst="roundRect">
            <a:avLst>
              <a:gd name="adj" fmla="val 4815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IE" dirty="0">
                <a:solidFill>
                  <a:schemeClr val="accent1"/>
                </a:solidFill>
              </a:rPr>
              <a:t>Annual Performance (TMY)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BFA5D86E-0B2D-8DDC-4479-90A6DB0E3BB0}"/>
              </a:ext>
            </a:extLst>
          </p:cNvPr>
          <p:cNvSpPr/>
          <p:nvPr/>
        </p:nvSpPr>
        <p:spPr>
          <a:xfrm>
            <a:off x="9295408" y="2390816"/>
            <a:ext cx="1945640" cy="3783852"/>
          </a:xfrm>
          <a:prstGeom prst="roundRect">
            <a:avLst>
              <a:gd name="adj" fmla="val 1040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IE" dirty="0">
                <a:solidFill>
                  <a:schemeClr val="accent1"/>
                </a:solidFill>
              </a:rPr>
              <a:t>Stochastic Analysis</a:t>
            </a:r>
          </a:p>
          <a:p>
            <a:pPr algn="ctr"/>
            <a:r>
              <a:rPr lang="en-IE" dirty="0">
                <a:solidFill>
                  <a:schemeClr val="accent1"/>
                </a:solidFill>
              </a:rPr>
              <a:t>(</a:t>
            </a:r>
            <a:r>
              <a:rPr lang="en-IE" dirty="0" err="1">
                <a:solidFill>
                  <a:schemeClr val="accent1"/>
                </a:solidFill>
              </a:rPr>
              <a:t>MonteCarlo</a:t>
            </a:r>
            <a:r>
              <a:rPr lang="en-IE" dirty="0">
                <a:solidFill>
                  <a:schemeClr val="accent1"/>
                </a:solidFill>
              </a:rPr>
              <a:t> Simulation)</a:t>
            </a:r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9CE139F1-EEE4-3562-DB89-72530C148DC4}"/>
              </a:ext>
            </a:extLst>
          </p:cNvPr>
          <p:cNvGrpSpPr/>
          <p:nvPr/>
        </p:nvGrpSpPr>
        <p:grpSpPr>
          <a:xfrm>
            <a:off x="4215254" y="3641532"/>
            <a:ext cx="1880746" cy="2422152"/>
            <a:chOff x="8483600" y="3423723"/>
            <a:chExt cx="1727200" cy="2614341"/>
          </a:xfrm>
        </p:grpSpPr>
        <p:sp>
          <p:nvSpPr>
            <p:cNvPr id="59" name="Rectangle: Rounded Corners 58">
              <a:extLst>
                <a:ext uri="{FF2B5EF4-FFF2-40B4-BE49-F238E27FC236}">
                  <a16:creationId xmlns:a16="http://schemas.microsoft.com/office/drawing/2014/main" id="{12A86FA4-09B7-B492-60DB-C2483D88D486}"/>
                </a:ext>
              </a:extLst>
            </p:cNvPr>
            <p:cNvSpPr/>
            <p:nvPr/>
          </p:nvSpPr>
          <p:spPr>
            <a:xfrm>
              <a:off x="8483600" y="3423723"/>
              <a:ext cx="1727200" cy="2614341"/>
            </a:xfrm>
            <a:prstGeom prst="roundRect">
              <a:avLst>
                <a:gd name="adj" fmla="val 5466"/>
              </a:avLst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IE" dirty="0">
                  <a:solidFill>
                    <a:schemeClr val="accent1"/>
                  </a:solidFill>
                </a:rPr>
                <a:t>Simulation</a:t>
              </a:r>
            </a:p>
          </p:txBody>
        </p:sp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DC341C90-0A8B-8056-C6ED-81FB099190C0}"/>
                </a:ext>
              </a:extLst>
            </p:cNvPr>
            <p:cNvSpPr/>
            <p:nvPr/>
          </p:nvSpPr>
          <p:spPr>
            <a:xfrm>
              <a:off x="8610600" y="3874627"/>
              <a:ext cx="1473200" cy="416528"/>
            </a:xfrm>
            <a:prstGeom prst="round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IE" b="0" dirty="0" err="1">
                  <a:solidFill>
                    <a:schemeClr val="accent1"/>
                  </a:solidFill>
                </a:rPr>
                <a:t>mcrt</a:t>
              </a:r>
              <a:endParaRPr lang="en-IE" b="0" dirty="0">
                <a:solidFill>
                  <a:schemeClr val="accent1"/>
                </a:solidFill>
              </a:endParaRPr>
            </a:p>
            <a:p>
              <a:pPr algn="ctr"/>
              <a:endParaRPr lang="en-IE" dirty="0">
                <a:solidFill>
                  <a:schemeClr val="accent1"/>
                </a:solidFill>
              </a:endParaRPr>
            </a:p>
          </p:txBody>
        </p:sp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71E4A58F-EE30-3A81-7D8B-96FE8C4303DC}"/>
                </a:ext>
              </a:extLst>
            </p:cNvPr>
            <p:cNvSpPr/>
            <p:nvPr/>
          </p:nvSpPr>
          <p:spPr>
            <a:xfrm>
              <a:off x="8610600" y="4396010"/>
              <a:ext cx="1473200" cy="416528"/>
            </a:xfrm>
            <a:prstGeom prst="round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IE" b="0" dirty="0">
                  <a:solidFill>
                    <a:schemeClr val="accent1"/>
                  </a:solidFill>
                </a:rPr>
                <a:t>thermal</a:t>
              </a:r>
            </a:p>
            <a:p>
              <a:pPr algn="ctr"/>
              <a:endParaRPr lang="en-IE" dirty="0">
                <a:solidFill>
                  <a:schemeClr val="accent1"/>
                </a:solidFill>
              </a:endParaRPr>
            </a:p>
          </p:txBody>
        </p:sp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506B08B3-D428-A9ED-459A-C776E469C60D}"/>
                </a:ext>
              </a:extLst>
            </p:cNvPr>
            <p:cNvSpPr/>
            <p:nvPr/>
          </p:nvSpPr>
          <p:spPr>
            <a:xfrm>
              <a:off x="8610600" y="4926785"/>
              <a:ext cx="1473200" cy="416528"/>
            </a:xfrm>
            <a:prstGeom prst="round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IE" b="0" dirty="0">
                  <a:solidFill>
                    <a:schemeClr val="accent1"/>
                  </a:solidFill>
                </a:rPr>
                <a:t>sco2_cycle</a:t>
              </a:r>
            </a:p>
            <a:p>
              <a:pPr algn="ctr"/>
              <a:endParaRPr lang="en-IE" dirty="0">
                <a:solidFill>
                  <a:schemeClr val="accent1"/>
                </a:solidFill>
              </a:endParaRPr>
            </a:p>
          </p:txBody>
        </p:sp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6A03788A-CC45-AEF0-19D5-4D1F6B4BBAB9}"/>
                </a:ext>
              </a:extLst>
            </p:cNvPr>
            <p:cNvSpPr/>
            <p:nvPr/>
          </p:nvSpPr>
          <p:spPr>
            <a:xfrm>
              <a:off x="8610600" y="5452257"/>
              <a:ext cx="1473200" cy="416528"/>
            </a:xfrm>
            <a:prstGeom prst="round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IE" sz="1400" b="0" dirty="0" err="1">
                  <a:solidFill>
                    <a:schemeClr val="accent1"/>
                  </a:solidFill>
                </a:rPr>
                <a:t>dispatch_optim</a:t>
              </a:r>
              <a:endParaRPr lang="en-IE" b="0" dirty="0">
                <a:solidFill>
                  <a:schemeClr val="accent1"/>
                </a:solidFill>
              </a:endParaRPr>
            </a:p>
            <a:p>
              <a:pPr algn="ctr"/>
              <a:endParaRPr lang="en-IE" dirty="0">
                <a:solidFill>
                  <a:schemeClr val="accent1"/>
                </a:solidFill>
              </a:endParaRPr>
            </a:p>
          </p:txBody>
        </p:sp>
      </p:grp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BDB9129F-40B2-2489-E563-A5EAD3DF9611}"/>
              </a:ext>
            </a:extLst>
          </p:cNvPr>
          <p:cNvSpPr/>
          <p:nvPr/>
        </p:nvSpPr>
        <p:spPr>
          <a:xfrm>
            <a:off x="7662560" y="3390630"/>
            <a:ext cx="1364260" cy="50180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1200" dirty="0">
                <a:solidFill>
                  <a:schemeClr val="accent1"/>
                </a:solidFill>
              </a:rPr>
              <a:t>Postprocessing</a:t>
            </a:r>
          </a:p>
          <a:p>
            <a:pPr algn="ctr"/>
            <a:r>
              <a:rPr lang="en-IE" sz="1200" dirty="0">
                <a:solidFill>
                  <a:schemeClr val="accent1"/>
                </a:solidFill>
              </a:rPr>
              <a:t>(Analysis)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AC010FC-41F3-BCB8-4467-8F72A0C01F69}"/>
              </a:ext>
            </a:extLst>
          </p:cNvPr>
          <p:cNvSpPr/>
          <p:nvPr/>
        </p:nvSpPr>
        <p:spPr>
          <a:xfrm>
            <a:off x="6180704" y="3786392"/>
            <a:ext cx="1364260" cy="50180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1200" dirty="0" err="1">
                <a:solidFill>
                  <a:schemeClr val="accent1"/>
                </a:solidFill>
              </a:rPr>
              <a:t>postproc</a:t>
            </a:r>
            <a:r>
              <a:rPr lang="en-IE" sz="1200" dirty="0">
                <a:solidFill>
                  <a:schemeClr val="accent1"/>
                </a:solidFill>
              </a:rPr>
              <a:t> technical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17D7010-4FD3-CAC2-5DDE-E8030BA27C27}"/>
              </a:ext>
            </a:extLst>
          </p:cNvPr>
          <p:cNvSpPr/>
          <p:nvPr/>
        </p:nvSpPr>
        <p:spPr>
          <a:xfrm>
            <a:off x="6159233" y="4390277"/>
            <a:ext cx="1364260" cy="50180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1200" dirty="0" err="1">
                <a:solidFill>
                  <a:schemeClr val="accent1"/>
                </a:solidFill>
              </a:rPr>
              <a:t>postproc</a:t>
            </a:r>
            <a:r>
              <a:rPr lang="en-IE" sz="1200" dirty="0">
                <a:solidFill>
                  <a:schemeClr val="accent1"/>
                </a:solidFill>
              </a:rPr>
              <a:t> economics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A9D89EE-A232-03DC-362D-71184B94D987}"/>
              </a:ext>
            </a:extLst>
          </p:cNvPr>
          <p:cNvSpPr/>
          <p:nvPr/>
        </p:nvSpPr>
        <p:spPr>
          <a:xfrm>
            <a:off x="6147620" y="5012824"/>
            <a:ext cx="1364260" cy="50180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1200" dirty="0" err="1">
                <a:solidFill>
                  <a:schemeClr val="accent1"/>
                </a:solidFill>
              </a:rPr>
              <a:t>postproc</a:t>
            </a:r>
            <a:r>
              <a:rPr lang="en-IE" sz="1200" dirty="0">
                <a:solidFill>
                  <a:schemeClr val="accent1"/>
                </a:solidFill>
              </a:rPr>
              <a:t> financial</a:t>
            </a:r>
          </a:p>
        </p:txBody>
      </p:sp>
    </p:spTree>
    <p:extLst>
      <p:ext uri="{BB962C8B-B14F-4D97-AF65-F5344CB8AC3E}">
        <p14:creationId xmlns:p14="http://schemas.microsoft.com/office/powerpoint/2010/main" val="22701074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B6BFF-3B7A-9FA4-10E4-152DDA2DD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AD5BB86-9EA2-A882-A0DC-9295B6BB7CEB}"/>
              </a:ext>
            </a:extLst>
          </p:cNvPr>
          <p:cNvSpPr/>
          <p:nvPr/>
        </p:nvSpPr>
        <p:spPr>
          <a:xfrm>
            <a:off x="1555945" y="1055901"/>
            <a:ext cx="6938534" cy="963330"/>
          </a:xfrm>
          <a:prstGeom prst="roundRect">
            <a:avLst>
              <a:gd name="adj" fmla="val 6212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IE" dirty="0">
                <a:solidFill>
                  <a:schemeClr val="accent1"/>
                </a:solidFill>
              </a:rPr>
              <a:t>core layer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635B79B-17D8-DB66-3632-53FECC2899E8}"/>
              </a:ext>
            </a:extLst>
          </p:cNvPr>
          <p:cNvSpPr/>
          <p:nvPr/>
        </p:nvSpPr>
        <p:spPr>
          <a:xfrm>
            <a:off x="1742057" y="1426805"/>
            <a:ext cx="2087857" cy="479350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accent1"/>
                </a:solidFill>
              </a:rPr>
              <a:t>Var (scalar)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C9B78E06-CE99-FC3C-1175-F68691301C81}"/>
              </a:ext>
            </a:extLst>
          </p:cNvPr>
          <p:cNvSpPr/>
          <p:nvPr/>
        </p:nvSpPr>
        <p:spPr>
          <a:xfrm>
            <a:off x="4003994" y="1426805"/>
            <a:ext cx="2087857" cy="479350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accent1"/>
                </a:solidFill>
              </a:rPr>
              <a:t>Array (vector)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E26146B-754C-C345-9ED7-1AB0B4064D0E}"/>
              </a:ext>
            </a:extLst>
          </p:cNvPr>
          <p:cNvSpPr/>
          <p:nvPr/>
        </p:nvSpPr>
        <p:spPr>
          <a:xfrm>
            <a:off x="6232109" y="1426805"/>
            <a:ext cx="2087857" cy="479350"/>
          </a:xfrm>
          <a:prstGeom prst="roundRect">
            <a:avLst/>
          </a:prstGeom>
          <a:ln>
            <a:prstDash val="lg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accent1"/>
                </a:solidFill>
              </a:rPr>
              <a:t>Frame (tabular)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9AB1282-5FA5-1738-65F7-3FE6A8165E61}"/>
              </a:ext>
            </a:extLst>
          </p:cNvPr>
          <p:cNvGrpSpPr/>
          <p:nvPr/>
        </p:nvGrpSpPr>
        <p:grpSpPr>
          <a:xfrm>
            <a:off x="1561744" y="2130515"/>
            <a:ext cx="6938534" cy="963330"/>
            <a:chOff x="1561744" y="2130515"/>
            <a:chExt cx="6938534" cy="963330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CDD516AD-A453-D6F4-FF5E-CCD2DA28A785}"/>
                </a:ext>
              </a:extLst>
            </p:cNvPr>
            <p:cNvSpPr/>
            <p:nvPr/>
          </p:nvSpPr>
          <p:spPr>
            <a:xfrm>
              <a:off x="3860092" y="2544139"/>
              <a:ext cx="1301796" cy="402198"/>
            </a:xfrm>
            <a:prstGeom prst="roundRect">
              <a:avLst/>
            </a:prstGeom>
            <a:ln>
              <a:solidFill>
                <a:schemeClr val="accent3"/>
              </a:solidFill>
              <a:prstDash val="dash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accent3"/>
                  </a:solidFill>
                </a:rPr>
                <a:t>htc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5024CA8D-09BA-4DC5-EC2E-4B4B1F199AA8}"/>
                </a:ext>
              </a:extLst>
            </p:cNvPr>
            <p:cNvSpPr/>
            <p:nvPr/>
          </p:nvSpPr>
          <p:spPr>
            <a:xfrm>
              <a:off x="5257705" y="2544139"/>
              <a:ext cx="1301796" cy="402198"/>
            </a:xfrm>
            <a:prstGeom prst="roundRect">
              <a:avLst/>
            </a:prstGeom>
            <a:ln>
              <a:solidFill>
                <a:schemeClr val="accent3"/>
              </a:solidFill>
              <a:prstDash val="dash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accent3"/>
                  </a:solidFill>
                </a:rPr>
                <a:t>solar</a:t>
              </a: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8B872FBA-CD7B-92DC-5BCE-269AB7734F07}"/>
                </a:ext>
              </a:extLst>
            </p:cNvPr>
            <p:cNvSpPr/>
            <p:nvPr/>
          </p:nvSpPr>
          <p:spPr>
            <a:xfrm>
              <a:off x="2462479" y="2544139"/>
              <a:ext cx="1301796" cy="402198"/>
            </a:xfrm>
            <a:prstGeom prst="roundRect">
              <a:avLst/>
            </a:prstGeom>
            <a:ln>
              <a:solidFill>
                <a:schemeClr val="accent3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accent3"/>
                  </a:solidFill>
                </a:rPr>
                <a:t>props</a:t>
              </a: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9EB7DE0C-0FD7-E80F-9D94-F3AE0363B77C}"/>
                </a:ext>
              </a:extLst>
            </p:cNvPr>
            <p:cNvSpPr/>
            <p:nvPr/>
          </p:nvSpPr>
          <p:spPr>
            <a:xfrm>
              <a:off x="6655318" y="2544139"/>
              <a:ext cx="1301796" cy="402198"/>
            </a:xfrm>
            <a:prstGeom prst="roundRect">
              <a:avLst/>
            </a:prstGeom>
            <a:ln>
              <a:solidFill>
                <a:schemeClr val="accent3"/>
              </a:solidFill>
              <a:prstDash val="dash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accent3"/>
                  </a:solidFill>
                </a:rPr>
                <a:t>loc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4571A80F-5F95-38F9-C27E-88F933001810}"/>
                </a:ext>
              </a:extLst>
            </p:cNvPr>
            <p:cNvSpPr/>
            <p:nvPr/>
          </p:nvSpPr>
          <p:spPr>
            <a:xfrm>
              <a:off x="1561744" y="2130515"/>
              <a:ext cx="6938534" cy="963330"/>
            </a:xfrm>
            <a:prstGeom prst="roundRect">
              <a:avLst>
                <a:gd name="adj" fmla="val 6212"/>
              </a:avLst>
            </a:prstGeom>
            <a:noFill/>
            <a:ln>
              <a:solidFill>
                <a:schemeClr val="accent3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en-IE" dirty="0">
                  <a:solidFill>
                    <a:schemeClr val="accent3"/>
                  </a:solidFill>
                </a:rPr>
                <a:t>utilities layer</a:t>
              </a:r>
            </a:p>
          </p:txBody>
        </p:sp>
      </p:grp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E5613ACE-EBF2-9450-76C4-1B4C63E2AA35}"/>
              </a:ext>
            </a:extLst>
          </p:cNvPr>
          <p:cNvSpPr/>
          <p:nvPr/>
        </p:nvSpPr>
        <p:spPr>
          <a:xfrm>
            <a:off x="8666359" y="866273"/>
            <a:ext cx="1700980" cy="3410759"/>
          </a:xfrm>
          <a:prstGeom prst="roundRect">
            <a:avLst>
              <a:gd name="adj" fmla="val 9731"/>
            </a:avLst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" rIns="3600" rtlCol="0" anchor="t"/>
          <a:lstStyle/>
          <a:p>
            <a:pPr algn="ctr"/>
            <a:r>
              <a:rPr lang="en-US" sz="1600" dirty="0">
                <a:solidFill>
                  <a:schemeClr val="accent2"/>
                </a:solidFill>
              </a:rPr>
              <a:t>Catalog</a:t>
            </a:r>
            <a:endParaRPr lang="en-AU" sz="1600" dirty="0">
              <a:solidFill>
                <a:schemeClr val="accent2"/>
              </a:solidFill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17FBFD8-0ABA-8A26-A75D-15E2A691D412}"/>
              </a:ext>
            </a:extLst>
          </p:cNvPr>
          <p:cNvSpPr/>
          <p:nvPr/>
        </p:nvSpPr>
        <p:spPr>
          <a:xfrm>
            <a:off x="8850076" y="1827418"/>
            <a:ext cx="1301796" cy="323508"/>
          </a:xfrm>
          <a:prstGeom prst="roundRect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accent2"/>
                </a:solidFill>
              </a:rPr>
              <a:t>dwh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8DA861DE-8C9E-7A41-F399-22685ED78BC2}"/>
              </a:ext>
            </a:extLst>
          </p:cNvPr>
          <p:cNvSpPr/>
          <p:nvPr/>
        </p:nvSpPr>
        <p:spPr>
          <a:xfrm>
            <a:off x="8838650" y="2683580"/>
            <a:ext cx="1301796" cy="323508"/>
          </a:xfrm>
          <a:prstGeom prst="roundRect">
            <a:avLst/>
          </a:prstGeom>
          <a:ln>
            <a:solidFill>
              <a:schemeClr val="accent2"/>
            </a:solidFill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accent2"/>
                </a:solidFill>
              </a:rPr>
              <a:t>stg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86E78440-BB03-BDFB-EE39-A637007A651E}"/>
              </a:ext>
            </a:extLst>
          </p:cNvPr>
          <p:cNvSpPr/>
          <p:nvPr/>
        </p:nvSpPr>
        <p:spPr>
          <a:xfrm>
            <a:off x="8838650" y="1426805"/>
            <a:ext cx="1301796" cy="323508"/>
          </a:xfrm>
          <a:prstGeom prst="roundRect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accent2"/>
                </a:solidFill>
              </a:rPr>
              <a:t>csp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8F64DE1F-81BC-FBC5-42A4-C03EAF98180A}"/>
              </a:ext>
            </a:extLst>
          </p:cNvPr>
          <p:cNvSpPr/>
          <p:nvPr/>
        </p:nvSpPr>
        <p:spPr>
          <a:xfrm>
            <a:off x="1395663" y="288758"/>
            <a:ext cx="9225728" cy="4155423"/>
          </a:xfrm>
          <a:prstGeom prst="roundRect">
            <a:avLst>
              <a:gd name="adj" fmla="val 6781"/>
            </a:avLst>
          </a:prstGeom>
          <a:noFill/>
          <a:ln w="38100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antupy architecture</a:t>
            </a:r>
            <a:endParaRPr lang="en-AU" dirty="0">
              <a:solidFill>
                <a:schemeClr val="tx1"/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1B3E5F6-B4FE-7633-5625-48353B5F120E}"/>
              </a:ext>
            </a:extLst>
          </p:cNvPr>
          <p:cNvSpPr/>
          <p:nvPr/>
        </p:nvSpPr>
        <p:spPr>
          <a:xfrm>
            <a:off x="8850076" y="2224751"/>
            <a:ext cx="1301796" cy="323508"/>
          </a:xfrm>
          <a:prstGeom prst="roundRect">
            <a:avLst/>
          </a:prstGeom>
          <a:ln>
            <a:solidFill>
              <a:schemeClr val="accent2"/>
            </a:solidFill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accent2"/>
                </a:solidFill>
              </a:rPr>
              <a:t>desal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B4B9BB6-2B03-C74A-B8D2-CB4A90CBCE3A}"/>
              </a:ext>
            </a:extLst>
          </p:cNvPr>
          <p:cNvGrpSpPr/>
          <p:nvPr/>
        </p:nvGrpSpPr>
        <p:grpSpPr>
          <a:xfrm>
            <a:off x="1581287" y="3233095"/>
            <a:ext cx="6938534" cy="963330"/>
            <a:chOff x="1581287" y="3723782"/>
            <a:chExt cx="6938534" cy="963330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A941E3E5-7B8E-A89E-E4B9-ACFC1F2E25BC}"/>
                </a:ext>
              </a:extLst>
            </p:cNvPr>
            <p:cNvSpPr/>
            <p:nvPr/>
          </p:nvSpPr>
          <p:spPr>
            <a:xfrm>
              <a:off x="3362282" y="4132243"/>
              <a:ext cx="1289646" cy="416152"/>
            </a:xfrm>
            <a:prstGeom prst="round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accent5"/>
                  </a:solidFill>
                </a:rPr>
                <a:t>Plant</a:t>
              </a: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E600AAD6-01EB-4536-0618-FCA27F567488}"/>
                </a:ext>
              </a:extLst>
            </p:cNvPr>
            <p:cNvSpPr/>
            <p:nvPr/>
          </p:nvSpPr>
          <p:spPr>
            <a:xfrm>
              <a:off x="5047922" y="4132982"/>
              <a:ext cx="1384633" cy="415413"/>
            </a:xfrm>
            <a:prstGeom prst="roundRect">
              <a:avLst/>
            </a:prstGeom>
            <a:ln>
              <a:prstDash val="lgDash"/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accent5"/>
                  </a:solidFill>
                </a:rPr>
                <a:t>TSGs</a:t>
              </a: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2DD8CDD5-858B-E394-E6F8-0785261DB6DA}"/>
                </a:ext>
              </a:extLst>
            </p:cNvPr>
            <p:cNvSpPr/>
            <p:nvPr/>
          </p:nvSpPr>
          <p:spPr>
            <a:xfrm>
              <a:off x="1581287" y="3723782"/>
              <a:ext cx="6938534" cy="963330"/>
            </a:xfrm>
            <a:prstGeom prst="roundRect">
              <a:avLst>
                <a:gd name="adj" fmla="val 6212"/>
              </a:avLst>
            </a:prstGeom>
            <a:noFill/>
            <a:ln>
              <a:solidFill>
                <a:schemeClr val="accent5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en-IE" dirty="0">
                  <a:solidFill>
                    <a:schemeClr val="accent5"/>
                  </a:solidFill>
                </a:rPr>
                <a:t>simulation layer</a:t>
              </a: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569BD1DC-71BD-6FEB-EAD9-B5ED918C3DD3}"/>
                </a:ext>
              </a:extLst>
            </p:cNvPr>
            <p:cNvSpPr/>
            <p:nvPr/>
          </p:nvSpPr>
          <p:spPr>
            <a:xfrm>
              <a:off x="6765531" y="4133723"/>
              <a:ext cx="1559223" cy="415413"/>
            </a:xfrm>
            <a:prstGeom prst="roundRect">
              <a:avLst/>
            </a:prstGeom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accent5"/>
                  </a:solidFill>
                </a:rPr>
                <a:t>Parametric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636B3AAB-9CE1-9957-DF31-58F2778F124E}"/>
                </a:ext>
              </a:extLst>
            </p:cNvPr>
            <p:cNvSpPr/>
            <p:nvPr/>
          </p:nvSpPr>
          <p:spPr>
            <a:xfrm>
              <a:off x="1976368" y="4132982"/>
              <a:ext cx="1023200" cy="415413"/>
            </a:xfrm>
            <a:prstGeom prst="roundRect">
              <a:avLst/>
            </a:prstGeom>
            <a:ln>
              <a:prstDash val="lgDash"/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accent5"/>
                  </a:solidFill>
                </a:rPr>
                <a:t>Model</a:t>
              </a:r>
            </a:p>
          </p:txBody>
        </p:sp>
      </p:grp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F7354F53-62DD-C51D-004C-1AEE1BC87CD3}"/>
              </a:ext>
            </a:extLst>
          </p:cNvPr>
          <p:cNvSpPr/>
          <p:nvPr/>
        </p:nvSpPr>
        <p:spPr>
          <a:xfrm>
            <a:off x="8850076" y="3116694"/>
            <a:ext cx="1301796" cy="323508"/>
          </a:xfrm>
          <a:prstGeom prst="roundRect">
            <a:avLst/>
          </a:prstGeom>
          <a:ln>
            <a:solidFill>
              <a:schemeClr val="accent2"/>
            </a:solidFill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accent2"/>
                </a:solidFill>
              </a:rPr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2224231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4593</TotalTime>
  <Words>142</Words>
  <Application>Microsoft Office PowerPoint</Application>
  <PresentationFormat>Widescreen</PresentationFormat>
  <Paragraphs>87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phd code</vt:lpstr>
      <vt:lpstr>existing module architectures</vt:lpstr>
      <vt:lpstr>module architectures example: csp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Saldivia Salazar</dc:creator>
  <cp:lastModifiedBy>David Saldivia Salazar</cp:lastModifiedBy>
  <cp:revision>1</cp:revision>
  <dcterms:created xsi:type="dcterms:W3CDTF">2025-05-16T12:08:46Z</dcterms:created>
  <dcterms:modified xsi:type="dcterms:W3CDTF">2026-04-09T16:29:16Z</dcterms:modified>
</cp:coreProperties>
</file>