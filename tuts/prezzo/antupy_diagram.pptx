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4" r:id="rId2"/>
    <p:sldId id="259" r:id="rId3"/>
    <p:sldId id="263" r:id="rId4"/>
    <p:sldId id="262" r:id="rId5"/>
    <p:sldId id="257" r:id="rId6"/>
    <p:sldId id="260" r:id="rId7"/>
    <p:sldId id="261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7E3ECBD-CDCD-4A02-87BE-7F84306A60E6}" v="1" dt="2026-04-09T16:29:10.55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83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vid Saldivia Salazar" userId="7702d5bea18b5005" providerId="LiveId" clId="{3FE40E9F-C1D8-41F8-86FB-8438BBAAC133}"/>
    <pc:docChg chg="undo custSel addSld delSld modSld sldOrd">
      <pc:chgData name="David Saldivia Salazar" userId="7702d5bea18b5005" providerId="LiveId" clId="{3FE40E9F-C1D8-41F8-86FB-8438BBAAC133}" dt="2026-04-09T16:28:57.027" v="669" actId="1038"/>
      <pc:docMkLst>
        <pc:docMk/>
      </pc:docMkLst>
      <pc:sldChg chg="addSp delSp modSp add mod ord">
        <pc:chgData name="David Saldivia Salazar" userId="7702d5bea18b5005" providerId="LiveId" clId="{3FE40E9F-C1D8-41F8-86FB-8438BBAAC133}" dt="2026-04-09T16:28:57.027" v="669" actId="1038"/>
        <pc:sldMkLst>
          <pc:docMk/>
          <pc:sldMk cId="2222423162" sldId="261"/>
        </pc:sldMkLst>
        <pc:spChg chg="mod">
          <ac:chgData name="David Saldivia Salazar" userId="7702d5bea18b5005" providerId="LiveId" clId="{3FE40E9F-C1D8-41F8-86FB-8438BBAAC133}" dt="2026-04-09T16:28:16.440" v="641" actId="1038"/>
          <ac:spMkLst>
            <pc:docMk/>
            <pc:sldMk cId="2222423162" sldId="261"/>
            <ac:spMk id="2" creationId="{71B3E5F6-B4FE-7633-5625-48353B5F120E}"/>
          </ac:spMkLst>
        </pc:spChg>
        <pc:spChg chg="del">
          <ac:chgData name="David Saldivia Salazar" userId="7702d5bea18b5005" providerId="LiveId" clId="{3FE40E9F-C1D8-41F8-86FB-8438BBAAC133}" dt="2026-04-09T16:28:02.825" v="635" actId="478"/>
          <ac:spMkLst>
            <pc:docMk/>
            <pc:sldMk cId="2222423162" sldId="261"/>
            <ac:spMk id="3" creationId="{E557B5D3-646E-10B0-435D-2652F02D8887}"/>
          </ac:spMkLst>
        </pc:spChg>
        <pc:spChg chg="mod topLvl">
          <ac:chgData name="David Saldivia Salazar" userId="7702d5bea18b5005" providerId="LiveId" clId="{3FE40E9F-C1D8-41F8-86FB-8438BBAAC133}" dt="2026-04-09T16:28:53.695" v="665" actId="1038"/>
          <ac:spMkLst>
            <pc:docMk/>
            <pc:sldMk cId="2222423162" sldId="261"/>
            <ac:spMk id="5" creationId="{A941E3E5-7B8E-A89E-E4B9-ACFC1F2E25BC}"/>
          </ac:spMkLst>
        </pc:spChg>
        <pc:spChg chg="mod">
          <ac:chgData name="David Saldivia Salazar" userId="7702d5bea18b5005" providerId="LiveId" clId="{3FE40E9F-C1D8-41F8-86FB-8438BBAAC133}" dt="2026-04-09T16:28:38.831" v="650" actId="693"/>
          <ac:spMkLst>
            <pc:docMk/>
            <pc:sldMk cId="2222423162" sldId="261"/>
            <ac:spMk id="6" creationId="{CDD516AD-A453-D6F4-FF5E-CCD2DA28A785}"/>
          </ac:spMkLst>
        </pc:spChg>
        <pc:spChg chg="mod">
          <ac:chgData name="David Saldivia Salazar" userId="7702d5bea18b5005" providerId="LiveId" clId="{3FE40E9F-C1D8-41F8-86FB-8438BBAAC133}" dt="2026-04-09T16:28:31.319" v="649" actId="693"/>
          <ac:spMkLst>
            <pc:docMk/>
            <pc:sldMk cId="2222423162" sldId="261"/>
            <ac:spMk id="7" creationId="{5024CA8D-09BA-4DC5-EC2E-4B4B1F199AA8}"/>
          </ac:spMkLst>
        </pc:spChg>
        <pc:spChg chg="mod">
          <ac:chgData name="David Saldivia Salazar" userId="7702d5bea18b5005" providerId="LiveId" clId="{3FE40E9F-C1D8-41F8-86FB-8438BBAAC133}" dt="2026-04-09T16:28:57.027" v="669" actId="1038"/>
          <ac:spMkLst>
            <pc:docMk/>
            <pc:sldMk cId="2222423162" sldId="261"/>
            <ac:spMk id="8" creationId="{636B3AAB-9CE1-9957-DF31-58F2778F124E}"/>
          </ac:spMkLst>
        </pc:spChg>
        <pc:spChg chg="mod">
          <ac:chgData name="David Saldivia Salazar" userId="7702d5bea18b5005" providerId="LiveId" clId="{3FE40E9F-C1D8-41F8-86FB-8438BBAAC133}" dt="2026-04-09T16:27:26.590" v="628" actId="1076"/>
          <ac:spMkLst>
            <pc:docMk/>
            <pc:sldMk cId="2222423162" sldId="261"/>
            <ac:spMk id="10" creationId="{E600AAD6-01EB-4536-0618-FCA27F567488}"/>
          </ac:spMkLst>
        </pc:spChg>
        <pc:spChg chg="mod">
          <ac:chgData name="David Saldivia Salazar" userId="7702d5bea18b5005" providerId="LiveId" clId="{3FE40E9F-C1D8-41F8-86FB-8438BBAAC133}" dt="2026-04-09T16:27:43.650" v="631" actId="693"/>
          <ac:spMkLst>
            <pc:docMk/>
            <pc:sldMk cId="2222423162" sldId="261"/>
            <ac:spMk id="12" creationId="{9EB7DE0C-0FD7-E80F-9D94-F3AE0363B77C}"/>
          </ac:spMkLst>
        </pc:spChg>
        <pc:spChg chg="mod">
          <ac:chgData name="David Saldivia Salazar" userId="7702d5bea18b5005" providerId="LiveId" clId="{3FE40E9F-C1D8-41F8-86FB-8438BBAAC133}" dt="2026-04-09T16:28:49.105" v="659" actId="1037"/>
          <ac:spMkLst>
            <pc:docMk/>
            <pc:sldMk cId="2222423162" sldId="261"/>
            <ac:spMk id="16" creationId="{569BD1DC-71BD-6FEB-EAD9-B5ED918C3DD3}"/>
          </ac:spMkLst>
        </pc:spChg>
        <pc:spChg chg="mod">
          <ac:chgData name="David Saldivia Salazar" userId="7702d5bea18b5005" providerId="LiveId" clId="{3FE40E9F-C1D8-41F8-86FB-8438BBAAC133}" dt="2026-04-09T16:28:19.473" v="648" actId="20577"/>
          <ac:spMkLst>
            <pc:docMk/>
            <pc:sldMk cId="2222423162" sldId="261"/>
            <ac:spMk id="17" creationId="{E5613ACE-EBF2-9450-76C4-1B4C63E2AA35}"/>
          </ac:spMkLst>
        </pc:spChg>
        <pc:spChg chg="mod">
          <ac:chgData name="David Saldivia Salazar" userId="7702d5bea18b5005" providerId="LiveId" clId="{3FE40E9F-C1D8-41F8-86FB-8438BBAAC133}" dt="2026-04-09T16:28:16.440" v="641" actId="1038"/>
          <ac:spMkLst>
            <pc:docMk/>
            <pc:sldMk cId="2222423162" sldId="261"/>
            <ac:spMk id="18" creationId="{617FBFD8-0ABA-8A26-A75D-15E2A691D412}"/>
          </ac:spMkLst>
        </pc:spChg>
        <pc:spChg chg="mod">
          <ac:chgData name="David Saldivia Salazar" userId="7702d5bea18b5005" providerId="LiveId" clId="{3FE40E9F-C1D8-41F8-86FB-8438BBAAC133}" dt="2026-04-09T16:28:16.440" v="641" actId="1038"/>
          <ac:spMkLst>
            <pc:docMk/>
            <pc:sldMk cId="2222423162" sldId="261"/>
            <ac:spMk id="19" creationId="{8DA861DE-8C9E-7A41-F399-22685ED78BC2}"/>
          </ac:spMkLst>
        </pc:spChg>
        <pc:spChg chg="mod">
          <ac:chgData name="David Saldivia Salazar" userId="7702d5bea18b5005" providerId="LiveId" clId="{3FE40E9F-C1D8-41F8-86FB-8438BBAAC133}" dt="2026-04-09T16:28:16.440" v="641" actId="1038"/>
          <ac:spMkLst>
            <pc:docMk/>
            <pc:sldMk cId="2222423162" sldId="261"/>
            <ac:spMk id="20" creationId="{86E78440-BB03-BDFB-EE39-A637007A651E}"/>
          </ac:spMkLst>
        </pc:spChg>
        <pc:spChg chg="del">
          <ac:chgData name="David Saldivia Salazar" userId="7702d5bea18b5005" providerId="LiveId" clId="{3FE40E9F-C1D8-41F8-86FB-8438BBAAC133}" dt="2026-04-09T16:27:52.191" v="632" actId="478"/>
          <ac:spMkLst>
            <pc:docMk/>
            <pc:sldMk cId="2222423162" sldId="261"/>
            <ac:spMk id="21" creationId="{A4625A53-A184-6161-593B-B6BF6E934FB6}"/>
          </ac:spMkLst>
        </pc:spChg>
        <pc:spChg chg="mod">
          <ac:chgData name="David Saldivia Salazar" userId="7702d5bea18b5005" providerId="LiveId" clId="{3FE40E9F-C1D8-41F8-86FB-8438BBAAC133}" dt="2026-04-09T16:28:16.440" v="641" actId="1038"/>
          <ac:spMkLst>
            <pc:docMk/>
            <pc:sldMk cId="2222423162" sldId="261"/>
            <ac:spMk id="23" creationId="{F7354F53-62DD-C51D-004C-1AEE1BC87CD3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F1888F-6139-9892-33B6-77392DF6BBB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D986377-88C6-52E7-7C71-D4A7AE7B89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C31D6D-C577-042B-566B-A8F8A12468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545F80-4238-44B2-8FA4-030309B17934}" type="datetimeFigureOut">
              <a:rPr lang="en-IE" smtClean="0"/>
              <a:t>13/05/2026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9AACF7-8918-C053-47B4-BED4F7694E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B04E9A-7A42-C6B6-5A3F-826E80960A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A64BF5-B39E-40E7-BEBB-819625AEF518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8517981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5E4979-35CD-70D5-D248-7FCC0D1E4A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60E746-A130-4D65-5220-90961C9CB9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6B8C32-2E88-CB79-F961-A454250D8C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545F80-4238-44B2-8FA4-030309B17934}" type="datetimeFigureOut">
              <a:rPr lang="en-IE" smtClean="0"/>
              <a:t>13/05/2026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3CE2C0-293C-9634-078C-E57C2B7EC8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490D3A-55C6-F372-3F73-E9005861EE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A64BF5-B39E-40E7-BEBB-819625AEF518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443864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C57F3D-41E7-6D68-510D-2B955F633E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34BEF0-F920-CF9C-AF37-710C1DDEF4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32AE8B-3738-D0AE-DBAD-D7B116B34C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545F80-4238-44B2-8FA4-030309B17934}" type="datetimeFigureOut">
              <a:rPr lang="en-IE" smtClean="0"/>
              <a:t>13/05/2026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7D46D4-A6FE-052E-5C9B-6385BAD631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8953A2-9BE1-F35C-54AF-605CC043A7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A64BF5-B39E-40E7-BEBB-819625AEF518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4528947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E67807-4F15-A03E-90A0-18233ADD84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90E0A5-3DE5-4538-ABC8-AC9D968FDE4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F086125-6B3F-DBD5-5DC4-E51F2EF6E2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AEDC32-DF5A-E191-91DA-D2310F20EA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545F80-4238-44B2-8FA4-030309B17934}" type="datetimeFigureOut">
              <a:rPr lang="en-IE" smtClean="0"/>
              <a:t>13/05/2026</a:t>
            </a:fld>
            <a:endParaRPr lang="en-I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61842A9-AF2F-33BA-3E62-2281751A1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2417DC-A080-0BD1-CDCF-2C86B09BA3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A64BF5-B39E-40E7-BEBB-819625AEF518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3367421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C0CCF8-54AA-C828-38D5-5E7D5EDD24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2695D7-534A-2475-BE8F-3FDF0602B0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62D73C0-E50F-F25F-C5E7-2A07C0734B6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8975E06-10E8-0B8E-BD30-813C6ABBA7C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E610409-D201-019C-5789-25D2BA9DEDE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EF50F2E-53EC-ABCE-8D7C-CD13D9B44C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545F80-4238-44B2-8FA4-030309B17934}" type="datetimeFigureOut">
              <a:rPr lang="en-IE" smtClean="0"/>
              <a:t>13/05/2026</a:t>
            </a:fld>
            <a:endParaRPr lang="en-I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BD8F3E6-95A8-9A29-C4EF-22D97E5718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A8D7526-8AAB-1A8A-69F6-95FFAC8D93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A64BF5-B39E-40E7-BEBB-819625AEF518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9317544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CFF8F2-10D4-19E7-4CFC-62035B9E02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E88C56D-F247-C01D-55FF-15519D1843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545F80-4238-44B2-8FA4-030309B17934}" type="datetimeFigureOut">
              <a:rPr lang="en-IE" smtClean="0"/>
              <a:t>13/05/2026</a:t>
            </a:fld>
            <a:endParaRPr lang="en-I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B90730D-432F-A78E-2AE3-EDD4AE6283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12A6BFD-E8E0-5ED8-7826-733CC603F2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A64BF5-B39E-40E7-BEBB-819625AEF518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0932900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13BA60F-1904-B685-E2B7-BA26A845F8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545F80-4238-44B2-8FA4-030309B17934}" type="datetimeFigureOut">
              <a:rPr lang="en-IE" smtClean="0"/>
              <a:t>13/05/2026</a:t>
            </a:fld>
            <a:endParaRPr lang="en-I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A3B4FD1-57A6-BA2F-3C49-96AC3D1340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582EAF-761A-5913-A366-52D573F8A0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A64BF5-B39E-40E7-BEBB-819625AEF518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6170436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22B830-D609-F350-EBF1-7FE86A170B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B1250C-0FD8-8840-34EB-430237643C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6EC93EE-CB69-4DF6-EE5D-E7F9656841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5D372CF-64AB-E19F-1314-02A83533AB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545F80-4238-44B2-8FA4-030309B17934}" type="datetimeFigureOut">
              <a:rPr lang="en-IE" smtClean="0"/>
              <a:t>13/05/2026</a:t>
            </a:fld>
            <a:endParaRPr lang="en-I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59DC26-833A-ED3A-4077-EC96DA7870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D51055C-50D9-1768-31AD-3CC49F0553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A64BF5-B39E-40E7-BEBB-819625AEF518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5533776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6DE743-AAF7-8F93-429F-3A3907D168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95568E5-8CDD-7380-59F8-2682C6E2452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272DB1-5717-72B3-89D6-037B765442E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98FF58D-F266-3D16-C350-CAC7459AE5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545F80-4238-44B2-8FA4-030309B17934}" type="datetimeFigureOut">
              <a:rPr lang="en-IE" smtClean="0"/>
              <a:t>13/05/2026</a:t>
            </a:fld>
            <a:endParaRPr lang="en-I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A44AED2-537B-BC86-D5EB-6B2C977CA4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76A381E-7244-420C-CBF7-1EC7AD3E84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A64BF5-B39E-40E7-BEBB-819625AEF518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163166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B127FB-7CD5-94DB-5751-44B8B74BAA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0A2A201-1005-3604-E8E2-1C3C90F823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EF495E-11A3-D8E2-66EE-67770EB29F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545F80-4238-44B2-8FA4-030309B17934}" type="datetimeFigureOut">
              <a:rPr lang="en-IE" smtClean="0"/>
              <a:t>13/05/2026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3343BC-B6E7-44BB-776A-CF53461A5D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70433D-0CB3-77F0-DE0B-EA51F258AE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A64BF5-B39E-40E7-BEBB-819625AEF518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0134230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C87009E-D0FF-B724-53CA-91B581CA0D9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42527CC-CEFA-C4FD-0EEA-C5F757CD58C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5C9827-4623-F0BC-5176-3EE2713EC4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545F80-4238-44B2-8FA4-030309B17934}" type="datetimeFigureOut">
              <a:rPr lang="en-IE" smtClean="0"/>
              <a:t>13/05/2026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1294E3-1327-7782-0ACF-447D414E37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2CD54B-DBED-F700-D21C-70C31A00CC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A64BF5-B39E-40E7-BEBB-819625AEF518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0022531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C808BB8-AA17-85C2-69EE-06291ADB3B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5F6740-58C1-24BD-CC13-F042854004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01D286-E974-5EE7-FFA3-82BE4897E93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F545F80-4238-44B2-8FA4-030309B17934}" type="datetimeFigureOut">
              <a:rPr lang="en-IE" smtClean="0"/>
              <a:t>13/05/2026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C9B0DA-60F9-3389-48AA-DD3F6619D93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605A7B-FADA-B163-8945-30AB99A73C5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EA64BF5-B39E-40E7-BEBB-819625AEF518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6134603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30CC94-AB9F-FF0F-F1DB-F2FF305FD0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43D8AA-607D-41EB-F6BD-ED449AD917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6253" y="614061"/>
            <a:ext cx="3352800" cy="1325563"/>
          </a:xfrm>
        </p:spPr>
        <p:txBody>
          <a:bodyPr>
            <a:normAutofit/>
          </a:bodyPr>
          <a:lstStyle/>
          <a:p>
            <a:r>
              <a:rPr lang="en-IE" sz="3200" noProof="1"/>
              <a:t>phd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B5217E51-8BC4-83C9-E022-C633D30DF6F7}"/>
              </a:ext>
            </a:extLst>
          </p:cNvPr>
          <p:cNvSpPr txBox="1">
            <a:spLocks/>
          </p:cNvSpPr>
          <p:nvPr/>
        </p:nvSpPr>
        <p:spPr>
          <a:xfrm>
            <a:off x="3646483" y="587314"/>
            <a:ext cx="4457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E" sz="3200" noProof="1"/>
              <a:t>postdoc_1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339B78DC-E358-4C51-48A6-42FFB8211D40}"/>
              </a:ext>
            </a:extLst>
          </p:cNvPr>
          <p:cNvGrpSpPr/>
          <p:nvPr/>
        </p:nvGrpSpPr>
        <p:grpSpPr>
          <a:xfrm>
            <a:off x="353426" y="1508299"/>
            <a:ext cx="2746577" cy="5053088"/>
            <a:chOff x="893056" y="1614489"/>
            <a:chExt cx="1928938" cy="5053088"/>
          </a:xfrm>
        </p:grpSpPr>
        <p:sp>
          <p:nvSpPr>
            <p:cNvPr id="11" name="Rectangle: Rounded Corners 10">
              <a:extLst>
                <a:ext uri="{FF2B5EF4-FFF2-40B4-BE49-F238E27FC236}">
                  <a16:creationId xmlns:a16="http://schemas.microsoft.com/office/drawing/2014/main" id="{7A754D42-6517-2F95-D0B7-D20429C61989}"/>
                </a:ext>
              </a:extLst>
            </p:cNvPr>
            <p:cNvSpPr/>
            <p:nvPr/>
          </p:nvSpPr>
          <p:spPr>
            <a:xfrm>
              <a:off x="893056" y="1614489"/>
              <a:ext cx="1928938" cy="5053088"/>
            </a:xfrm>
            <a:prstGeom prst="roundRect">
              <a:avLst>
                <a:gd name="adj" fmla="val 3656"/>
              </a:avLst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t"/>
            <a:lstStyle/>
            <a:p>
              <a:pPr algn="ctr"/>
              <a:r>
                <a:rPr lang="en-IE" noProof="1"/>
                <a:t>/bdr_csp</a:t>
              </a:r>
            </a:p>
          </p:txBody>
        </p:sp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1D282318-5CF2-3689-493A-1D307D27CE16}"/>
                </a:ext>
              </a:extLst>
            </p:cNvPr>
            <p:cNvSpPr/>
            <p:nvPr/>
          </p:nvSpPr>
          <p:spPr>
            <a:xfrm>
              <a:off x="950949" y="5437867"/>
              <a:ext cx="1761893" cy="501805"/>
            </a:xfrm>
            <a:prstGeom prst="roundRect">
              <a:avLst/>
            </a:prstGeom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IE" noProof="1">
                  <a:solidFill>
                    <a:schemeClr val="accent5"/>
                  </a:solidFill>
                </a:rPr>
                <a:t>weather data</a:t>
              </a:r>
            </a:p>
          </p:txBody>
        </p:sp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2855ACE5-A6C6-CFE7-691F-77DCB67998E1}"/>
                </a:ext>
              </a:extLst>
            </p:cNvPr>
            <p:cNvSpPr/>
            <p:nvPr/>
          </p:nvSpPr>
          <p:spPr>
            <a:xfrm>
              <a:off x="950949" y="4040436"/>
              <a:ext cx="1761893" cy="501805"/>
            </a:xfrm>
            <a:prstGeom prst="roundRect">
              <a:avLst/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IE" noProof="1">
                  <a:solidFill>
                    <a:schemeClr val="accent2"/>
                  </a:solidFill>
                </a:rPr>
                <a:t>thermal analysis</a:t>
              </a:r>
            </a:p>
          </p:txBody>
        </p:sp>
        <p:sp>
          <p:nvSpPr>
            <p:cNvPr id="15" name="Rectangle: Rounded Corners 14">
              <a:extLst>
                <a:ext uri="{FF2B5EF4-FFF2-40B4-BE49-F238E27FC236}">
                  <a16:creationId xmlns:a16="http://schemas.microsoft.com/office/drawing/2014/main" id="{5198E766-D94E-0EE1-DFFF-C4BECF792377}"/>
                </a:ext>
              </a:extLst>
            </p:cNvPr>
            <p:cNvSpPr/>
            <p:nvPr/>
          </p:nvSpPr>
          <p:spPr>
            <a:xfrm>
              <a:off x="950949" y="4618257"/>
              <a:ext cx="1761894" cy="501805"/>
            </a:xfrm>
            <a:prstGeom prst="roundRect">
              <a:avLst/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IE" noProof="1">
                  <a:solidFill>
                    <a:schemeClr val="accent2"/>
                  </a:solidFill>
                </a:rPr>
                <a:t>power generation</a:t>
              </a:r>
            </a:p>
          </p:txBody>
        </p:sp>
        <p:sp>
          <p:nvSpPr>
            <p:cNvPr id="16" name="Rectangle: Rounded Corners 15">
              <a:extLst>
                <a:ext uri="{FF2B5EF4-FFF2-40B4-BE49-F238E27FC236}">
                  <a16:creationId xmlns:a16="http://schemas.microsoft.com/office/drawing/2014/main" id="{30FEAAE3-0015-1710-56C2-0FC13B31F2A4}"/>
                </a:ext>
              </a:extLst>
            </p:cNvPr>
            <p:cNvSpPr/>
            <p:nvPr/>
          </p:nvSpPr>
          <p:spPr>
            <a:xfrm>
              <a:off x="950949" y="3480344"/>
              <a:ext cx="1761893" cy="501805"/>
            </a:xfrm>
            <a:prstGeom prst="roundRect">
              <a:avLst/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IE" noProof="1">
                  <a:solidFill>
                    <a:schemeClr val="accent2"/>
                  </a:solidFill>
                </a:rPr>
                <a:t>optical analysis</a:t>
              </a:r>
            </a:p>
          </p:txBody>
        </p:sp>
        <p:sp>
          <p:nvSpPr>
            <p:cNvPr id="17" name="Rectangle: Rounded Corners 16">
              <a:extLst>
                <a:ext uri="{FF2B5EF4-FFF2-40B4-BE49-F238E27FC236}">
                  <a16:creationId xmlns:a16="http://schemas.microsoft.com/office/drawing/2014/main" id="{1A526E97-16CF-0D57-7B0A-9EB131F19A9B}"/>
                </a:ext>
              </a:extLst>
            </p:cNvPr>
            <p:cNvSpPr/>
            <p:nvPr/>
          </p:nvSpPr>
          <p:spPr>
            <a:xfrm>
              <a:off x="950949" y="6015851"/>
              <a:ext cx="1761894" cy="501805"/>
            </a:xfrm>
            <a:prstGeom prst="roundRect">
              <a:avLst/>
            </a:prstGeom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IE" noProof="1">
                  <a:solidFill>
                    <a:schemeClr val="accent5"/>
                  </a:solidFill>
                </a:rPr>
                <a:t>market data</a:t>
              </a:r>
            </a:p>
          </p:txBody>
        </p:sp>
        <p:sp>
          <p:nvSpPr>
            <p:cNvPr id="18" name="Rectangle: Rounded Corners 17">
              <a:extLst>
                <a:ext uri="{FF2B5EF4-FFF2-40B4-BE49-F238E27FC236}">
                  <a16:creationId xmlns:a16="http://schemas.microsoft.com/office/drawing/2014/main" id="{602A0A2E-03CA-CF28-EEF7-82EA7B91DF60}"/>
                </a:ext>
              </a:extLst>
            </p:cNvPr>
            <p:cNvSpPr/>
            <p:nvPr/>
          </p:nvSpPr>
          <p:spPr>
            <a:xfrm>
              <a:off x="950949" y="2109645"/>
              <a:ext cx="1761893" cy="501805"/>
            </a:xfrm>
            <a:prstGeom prst="round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IE" noProof="1">
                  <a:solidFill>
                    <a:schemeClr val="accent1"/>
                  </a:solidFill>
                </a:rPr>
                <a:t>settings</a:t>
              </a:r>
            </a:p>
          </p:txBody>
        </p:sp>
        <p:sp>
          <p:nvSpPr>
            <p:cNvPr id="19" name="Rectangle: Rounded Corners 18">
              <a:extLst>
                <a:ext uri="{FF2B5EF4-FFF2-40B4-BE49-F238E27FC236}">
                  <a16:creationId xmlns:a16="http://schemas.microsoft.com/office/drawing/2014/main" id="{CB55BC2C-1C34-4FE0-86AC-7EB65E1FA0D5}"/>
                </a:ext>
              </a:extLst>
            </p:cNvPr>
            <p:cNvSpPr/>
            <p:nvPr/>
          </p:nvSpPr>
          <p:spPr>
            <a:xfrm>
              <a:off x="950949" y="2676116"/>
              <a:ext cx="1761893" cy="501805"/>
            </a:xfrm>
            <a:prstGeom prst="round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IE" noProof="1">
                  <a:solidFill>
                    <a:schemeClr val="accent1"/>
                  </a:solidFill>
                </a:rPr>
                <a:t>location</a:t>
              </a: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63276837-7BE1-705E-2AD1-56880267F9F1}"/>
              </a:ext>
            </a:extLst>
          </p:cNvPr>
          <p:cNvGrpSpPr/>
          <p:nvPr/>
        </p:nvGrpSpPr>
        <p:grpSpPr>
          <a:xfrm>
            <a:off x="3265893" y="1520647"/>
            <a:ext cx="2931565" cy="5053088"/>
            <a:chOff x="893056" y="1614489"/>
            <a:chExt cx="1928938" cy="5053088"/>
          </a:xfrm>
        </p:grpSpPr>
        <p:sp>
          <p:nvSpPr>
            <p:cNvPr id="21" name="Rectangle: Rounded Corners 20">
              <a:extLst>
                <a:ext uri="{FF2B5EF4-FFF2-40B4-BE49-F238E27FC236}">
                  <a16:creationId xmlns:a16="http://schemas.microsoft.com/office/drawing/2014/main" id="{900DB1BC-1807-F323-1CBD-7C6C4765A200}"/>
                </a:ext>
              </a:extLst>
            </p:cNvPr>
            <p:cNvSpPr/>
            <p:nvPr/>
          </p:nvSpPr>
          <p:spPr>
            <a:xfrm>
              <a:off x="893056" y="1614489"/>
              <a:ext cx="1928938" cy="5053088"/>
            </a:xfrm>
            <a:prstGeom prst="roundRect">
              <a:avLst>
                <a:gd name="adj" fmla="val 3656"/>
              </a:avLst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t"/>
            <a:lstStyle/>
            <a:p>
              <a:pPr algn="ctr"/>
              <a:r>
                <a:rPr lang="en-IE" noProof="1"/>
                <a:t>/tm_solarshift</a:t>
              </a:r>
            </a:p>
          </p:txBody>
        </p:sp>
        <p:sp>
          <p:nvSpPr>
            <p:cNvPr id="22" name="Rectangle: Rounded Corners 21">
              <a:extLst>
                <a:ext uri="{FF2B5EF4-FFF2-40B4-BE49-F238E27FC236}">
                  <a16:creationId xmlns:a16="http://schemas.microsoft.com/office/drawing/2014/main" id="{31210052-9917-552A-0A0B-F565E06C2535}"/>
                </a:ext>
              </a:extLst>
            </p:cNvPr>
            <p:cNvSpPr/>
            <p:nvPr/>
          </p:nvSpPr>
          <p:spPr>
            <a:xfrm>
              <a:off x="950947" y="5348747"/>
              <a:ext cx="1761893" cy="291270"/>
            </a:xfrm>
            <a:prstGeom prst="roundRect">
              <a:avLst/>
            </a:prstGeom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IE" noProof="1">
                  <a:solidFill>
                    <a:schemeClr val="accent5"/>
                  </a:solidFill>
                </a:rPr>
                <a:t>weather data</a:t>
              </a:r>
            </a:p>
          </p:txBody>
        </p:sp>
        <p:sp>
          <p:nvSpPr>
            <p:cNvPr id="23" name="Rectangle: Rounded Corners 22">
              <a:extLst>
                <a:ext uri="{FF2B5EF4-FFF2-40B4-BE49-F238E27FC236}">
                  <a16:creationId xmlns:a16="http://schemas.microsoft.com/office/drawing/2014/main" id="{F5AF26BA-C943-2094-CD77-0CA0AC923984}"/>
                </a:ext>
              </a:extLst>
            </p:cNvPr>
            <p:cNvSpPr/>
            <p:nvPr/>
          </p:nvSpPr>
          <p:spPr>
            <a:xfrm>
              <a:off x="950949" y="3959437"/>
              <a:ext cx="1761893" cy="501805"/>
            </a:xfrm>
            <a:prstGeom prst="roundRect">
              <a:avLst/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IE" noProof="1">
                  <a:solidFill>
                    <a:schemeClr val="accent2"/>
                  </a:solidFill>
                </a:rPr>
                <a:t>pv simulation</a:t>
              </a:r>
            </a:p>
          </p:txBody>
        </p:sp>
        <p:sp>
          <p:nvSpPr>
            <p:cNvPr id="24" name="Rectangle: Rounded Corners 23">
              <a:extLst>
                <a:ext uri="{FF2B5EF4-FFF2-40B4-BE49-F238E27FC236}">
                  <a16:creationId xmlns:a16="http://schemas.microsoft.com/office/drawing/2014/main" id="{D3DA0310-4D7B-0B3A-9F4D-F2F4F96E6E0E}"/>
                </a:ext>
              </a:extLst>
            </p:cNvPr>
            <p:cNvSpPr/>
            <p:nvPr/>
          </p:nvSpPr>
          <p:spPr>
            <a:xfrm>
              <a:off x="950948" y="4561581"/>
              <a:ext cx="1761894" cy="501805"/>
            </a:xfrm>
            <a:prstGeom prst="roundRect">
              <a:avLst/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IE" noProof="1">
                  <a:solidFill>
                    <a:schemeClr val="accent2"/>
                  </a:solidFill>
                </a:rPr>
                <a:t>financial calculations</a:t>
              </a:r>
            </a:p>
          </p:txBody>
        </p:sp>
        <p:sp>
          <p:nvSpPr>
            <p:cNvPr id="25" name="Rectangle: Rounded Corners 24">
              <a:extLst>
                <a:ext uri="{FF2B5EF4-FFF2-40B4-BE49-F238E27FC236}">
                  <a16:creationId xmlns:a16="http://schemas.microsoft.com/office/drawing/2014/main" id="{45CFD34D-2D23-5548-7A09-9047B6A8FB2A}"/>
                </a:ext>
              </a:extLst>
            </p:cNvPr>
            <p:cNvSpPr/>
            <p:nvPr/>
          </p:nvSpPr>
          <p:spPr>
            <a:xfrm>
              <a:off x="950949" y="3358531"/>
              <a:ext cx="1761893" cy="501805"/>
            </a:xfrm>
            <a:prstGeom prst="roundRect">
              <a:avLst/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IE" noProof="1">
                  <a:solidFill>
                    <a:schemeClr val="accent2"/>
                  </a:solidFill>
                </a:rPr>
                <a:t>dewh simulation</a:t>
              </a:r>
            </a:p>
          </p:txBody>
        </p:sp>
        <p:sp>
          <p:nvSpPr>
            <p:cNvPr id="26" name="Rectangle: Rounded Corners 25">
              <a:extLst>
                <a:ext uri="{FF2B5EF4-FFF2-40B4-BE49-F238E27FC236}">
                  <a16:creationId xmlns:a16="http://schemas.microsoft.com/office/drawing/2014/main" id="{F2969CA1-6C2E-289D-F695-A90EDD193807}"/>
                </a:ext>
              </a:extLst>
            </p:cNvPr>
            <p:cNvSpPr/>
            <p:nvPr/>
          </p:nvSpPr>
          <p:spPr>
            <a:xfrm>
              <a:off x="950947" y="5757594"/>
              <a:ext cx="1761894" cy="295824"/>
            </a:xfrm>
            <a:prstGeom prst="roundRect">
              <a:avLst/>
            </a:prstGeom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IE" noProof="1">
                  <a:solidFill>
                    <a:schemeClr val="accent5"/>
                  </a:solidFill>
                </a:rPr>
                <a:t>market data</a:t>
              </a:r>
            </a:p>
          </p:txBody>
        </p:sp>
        <p:sp>
          <p:nvSpPr>
            <p:cNvPr id="27" name="Rectangle: Rounded Corners 26">
              <a:extLst>
                <a:ext uri="{FF2B5EF4-FFF2-40B4-BE49-F238E27FC236}">
                  <a16:creationId xmlns:a16="http://schemas.microsoft.com/office/drawing/2014/main" id="{28DA0D29-315E-FAE8-3E43-4F3C6CCAAFDA}"/>
                </a:ext>
              </a:extLst>
            </p:cNvPr>
            <p:cNvSpPr/>
            <p:nvPr/>
          </p:nvSpPr>
          <p:spPr>
            <a:xfrm>
              <a:off x="950949" y="2109645"/>
              <a:ext cx="1761893" cy="501805"/>
            </a:xfrm>
            <a:prstGeom prst="round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IE" noProof="1">
                  <a:solidFill>
                    <a:schemeClr val="accent1"/>
                  </a:solidFill>
                </a:rPr>
                <a:t>settings</a:t>
              </a:r>
            </a:p>
          </p:txBody>
        </p:sp>
        <p:sp>
          <p:nvSpPr>
            <p:cNvPr id="29" name="Rectangle: Rounded Corners 28">
              <a:extLst>
                <a:ext uri="{FF2B5EF4-FFF2-40B4-BE49-F238E27FC236}">
                  <a16:creationId xmlns:a16="http://schemas.microsoft.com/office/drawing/2014/main" id="{1E06A59B-DCBD-8C00-F324-CBFD57F5E65D}"/>
                </a:ext>
              </a:extLst>
            </p:cNvPr>
            <p:cNvSpPr/>
            <p:nvPr/>
          </p:nvSpPr>
          <p:spPr>
            <a:xfrm>
              <a:off x="950949" y="2676116"/>
              <a:ext cx="1761893" cy="501805"/>
            </a:xfrm>
            <a:prstGeom prst="round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IE" noProof="1">
                  <a:solidFill>
                    <a:schemeClr val="accent1"/>
                  </a:solidFill>
                </a:rPr>
                <a:t>location (household)</a:t>
              </a:r>
            </a:p>
          </p:txBody>
        </p:sp>
      </p:grp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44A87002-F9E8-BE4D-F44A-BD59132DBA16}"/>
              </a:ext>
            </a:extLst>
          </p:cNvPr>
          <p:cNvSpPr/>
          <p:nvPr/>
        </p:nvSpPr>
        <p:spPr>
          <a:xfrm>
            <a:off x="3353875" y="6043647"/>
            <a:ext cx="2677695" cy="322419"/>
          </a:xfrm>
          <a:prstGeom prst="round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E" noProof="1">
                <a:solidFill>
                  <a:schemeClr val="accent5"/>
                </a:solidFill>
              </a:rPr>
              <a:t>hwd data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B1385FB5-7E21-FA4D-60FE-E23EB44D28D5}"/>
              </a:ext>
            </a:extLst>
          </p:cNvPr>
          <p:cNvGrpSpPr/>
          <p:nvPr/>
        </p:nvGrpSpPr>
        <p:grpSpPr>
          <a:xfrm>
            <a:off x="6407233" y="1563449"/>
            <a:ext cx="2416727" cy="4202035"/>
            <a:chOff x="6301662" y="1576465"/>
            <a:chExt cx="2416727" cy="4202035"/>
          </a:xfrm>
        </p:grpSpPr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3B8C9ACB-DBFF-DFCE-7D98-ECC148DC4474}"/>
                </a:ext>
              </a:extLst>
            </p:cNvPr>
            <p:cNvSpPr/>
            <p:nvPr/>
          </p:nvSpPr>
          <p:spPr>
            <a:xfrm>
              <a:off x="6301662" y="1576465"/>
              <a:ext cx="2416727" cy="4202035"/>
            </a:xfrm>
            <a:prstGeom prst="roundRect">
              <a:avLst>
                <a:gd name="adj" fmla="val 9304"/>
              </a:avLst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t"/>
            <a:lstStyle/>
            <a:p>
              <a:pPr algn="ctr"/>
              <a:r>
                <a:rPr lang="en-IE" noProof="1"/>
                <a:t>MED-Solar</a:t>
              </a:r>
            </a:p>
          </p:txBody>
        </p:sp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B21C0B24-4EE3-9A40-6B9F-7FE1316681BA}"/>
                </a:ext>
              </a:extLst>
            </p:cNvPr>
            <p:cNvSpPr/>
            <p:nvPr/>
          </p:nvSpPr>
          <p:spPr>
            <a:xfrm>
              <a:off x="6634401" y="2126670"/>
              <a:ext cx="1761893" cy="501805"/>
            </a:xfrm>
            <a:prstGeom prst="round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IE" noProof="1">
                  <a:solidFill>
                    <a:schemeClr val="accent1"/>
                  </a:solidFill>
                </a:rPr>
                <a:t>settings</a:t>
              </a:r>
            </a:p>
          </p:txBody>
        </p:sp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F0271F9D-6116-C87D-C5A0-BD4DBCF4EEA5}"/>
                </a:ext>
              </a:extLst>
            </p:cNvPr>
            <p:cNvSpPr/>
            <p:nvPr/>
          </p:nvSpPr>
          <p:spPr>
            <a:xfrm>
              <a:off x="6634396" y="2714909"/>
              <a:ext cx="1761893" cy="501805"/>
            </a:xfrm>
            <a:prstGeom prst="round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IE" noProof="1">
                  <a:solidFill>
                    <a:schemeClr val="accent1"/>
                  </a:solidFill>
                </a:rPr>
                <a:t>location</a:t>
              </a:r>
            </a:p>
          </p:txBody>
        </p:sp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2C082905-0EB3-C87A-7185-B0A52D967651}"/>
                </a:ext>
              </a:extLst>
            </p:cNvPr>
            <p:cNvSpPr/>
            <p:nvPr/>
          </p:nvSpPr>
          <p:spPr>
            <a:xfrm>
              <a:off x="6631291" y="3338391"/>
              <a:ext cx="1761893" cy="501805"/>
            </a:xfrm>
            <a:prstGeom prst="roundRect">
              <a:avLst/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IE" noProof="1">
                  <a:solidFill>
                    <a:schemeClr val="accent2"/>
                  </a:solidFill>
                </a:rPr>
                <a:t>PTC</a:t>
              </a:r>
            </a:p>
          </p:txBody>
        </p:sp>
        <p:sp>
          <p:nvSpPr>
            <p:cNvPr id="14" name="Rectangle: Rounded Corners 13">
              <a:extLst>
                <a:ext uri="{FF2B5EF4-FFF2-40B4-BE49-F238E27FC236}">
                  <a16:creationId xmlns:a16="http://schemas.microsoft.com/office/drawing/2014/main" id="{5698E974-DE34-6B23-3D12-3D9BFDF5799B}"/>
                </a:ext>
              </a:extLst>
            </p:cNvPr>
            <p:cNvSpPr/>
            <p:nvPr/>
          </p:nvSpPr>
          <p:spPr>
            <a:xfrm>
              <a:off x="6631291" y="3951375"/>
              <a:ext cx="1761893" cy="501805"/>
            </a:xfrm>
            <a:prstGeom prst="roundRect">
              <a:avLst/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IE" noProof="1">
                  <a:solidFill>
                    <a:schemeClr val="accent2"/>
                  </a:solidFill>
                </a:rPr>
                <a:t>MED</a:t>
              </a:r>
            </a:p>
          </p:txBody>
        </p:sp>
        <p:sp>
          <p:nvSpPr>
            <p:cNvPr id="28" name="Rectangle: Rounded Corners 27">
              <a:extLst>
                <a:ext uri="{FF2B5EF4-FFF2-40B4-BE49-F238E27FC236}">
                  <a16:creationId xmlns:a16="http://schemas.microsoft.com/office/drawing/2014/main" id="{6D547355-8E2C-D9BF-C1B5-4695D121E427}"/>
                </a:ext>
              </a:extLst>
            </p:cNvPr>
            <p:cNvSpPr/>
            <p:nvPr/>
          </p:nvSpPr>
          <p:spPr>
            <a:xfrm>
              <a:off x="6631291" y="4560652"/>
              <a:ext cx="1761893" cy="501805"/>
            </a:xfrm>
            <a:prstGeom prst="roundRect">
              <a:avLst/>
            </a:prstGeom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IE" noProof="1">
                  <a:solidFill>
                    <a:schemeClr val="accent5"/>
                  </a:solidFill>
                </a:rPr>
                <a:t>weather</a:t>
              </a:r>
            </a:p>
          </p:txBody>
        </p:sp>
      </p:grpSp>
      <p:sp>
        <p:nvSpPr>
          <p:cNvPr id="30" name="Title 1">
            <a:extLst>
              <a:ext uri="{FF2B5EF4-FFF2-40B4-BE49-F238E27FC236}">
                <a16:creationId xmlns:a16="http://schemas.microsoft.com/office/drawing/2014/main" id="{D5A7CEB4-D68B-3150-9664-1D2F7C2D4144}"/>
              </a:ext>
            </a:extLst>
          </p:cNvPr>
          <p:cNvSpPr txBox="1">
            <a:spLocks/>
          </p:cNvSpPr>
          <p:nvPr/>
        </p:nvSpPr>
        <p:spPr>
          <a:xfrm>
            <a:off x="6926131" y="604857"/>
            <a:ext cx="4457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E" sz="3200" noProof="1"/>
              <a:t>master</a:t>
            </a:r>
          </a:p>
        </p:txBody>
      </p:sp>
    </p:spTree>
    <p:extLst>
      <p:ext uri="{BB962C8B-B14F-4D97-AF65-F5344CB8AC3E}">
        <p14:creationId xmlns:p14="http://schemas.microsoft.com/office/powerpoint/2010/main" val="38610470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5C594D-A501-EAA8-AD2D-59A07105C0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BCD2C4-EBA7-BD48-70D5-31D051C994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2260600" cy="1325563"/>
          </a:xfrm>
        </p:spPr>
        <p:txBody>
          <a:bodyPr/>
          <a:lstStyle/>
          <a:p>
            <a:r>
              <a:rPr lang="en-IE" noProof="1"/>
              <a:t>master</a:t>
            </a:r>
          </a:p>
        </p:txBody>
      </p:sp>
      <p:grpSp>
        <p:nvGrpSpPr>
          <p:cNvPr id="46" name="Group 45">
            <a:extLst>
              <a:ext uri="{FF2B5EF4-FFF2-40B4-BE49-F238E27FC236}">
                <a16:creationId xmlns:a16="http://schemas.microsoft.com/office/drawing/2014/main" id="{E6ED06A7-32A6-8373-3247-36BA39DD1228}"/>
              </a:ext>
            </a:extLst>
          </p:cNvPr>
          <p:cNvGrpSpPr/>
          <p:nvPr/>
        </p:nvGrpSpPr>
        <p:grpSpPr>
          <a:xfrm>
            <a:off x="450532" y="1576464"/>
            <a:ext cx="2732049" cy="4202035"/>
            <a:chOff x="6301662" y="1576465"/>
            <a:chExt cx="2732049" cy="4202035"/>
          </a:xfrm>
        </p:grpSpPr>
        <p:sp>
          <p:nvSpPr>
            <p:cNvPr id="21" name="Rectangle: Rounded Corners 20">
              <a:extLst>
                <a:ext uri="{FF2B5EF4-FFF2-40B4-BE49-F238E27FC236}">
                  <a16:creationId xmlns:a16="http://schemas.microsoft.com/office/drawing/2014/main" id="{53B0F28A-B4C7-EA7C-0057-AA6FF43E78AF}"/>
                </a:ext>
              </a:extLst>
            </p:cNvPr>
            <p:cNvSpPr/>
            <p:nvPr/>
          </p:nvSpPr>
          <p:spPr>
            <a:xfrm>
              <a:off x="6301662" y="1576465"/>
              <a:ext cx="2732049" cy="4202035"/>
            </a:xfrm>
            <a:prstGeom prst="round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t"/>
            <a:lstStyle/>
            <a:p>
              <a:pPr algn="ctr"/>
              <a:r>
                <a:rPr lang="en-IE" noProof="1"/>
                <a:t>MED-Solar</a:t>
              </a:r>
            </a:p>
          </p:txBody>
        </p:sp>
        <p:sp>
          <p:nvSpPr>
            <p:cNvPr id="30" name="Rectangle: Rounded Corners 29">
              <a:extLst>
                <a:ext uri="{FF2B5EF4-FFF2-40B4-BE49-F238E27FC236}">
                  <a16:creationId xmlns:a16="http://schemas.microsoft.com/office/drawing/2014/main" id="{EC4F3EA9-8516-5629-5E5E-EE4ED9D0183C}"/>
                </a:ext>
              </a:extLst>
            </p:cNvPr>
            <p:cNvSpPr/>
            <p:nvPr/>
          </p:nvSpPr>
          <p:spPr>
            <a:xfrm>
              <a:off x="6789849" y="2126670"/>
              <a:ext cx="1761893" cy="501805"/>
            </a:xfrm>
            <a:prstGeom prst="round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IE" noProof="1">
                  <a:solidFill>
                    <a:schemeClr val="accent1"/>
                  </a:solidFill>
                </a:rPr>
                <a:t>Settings</a:t>
              </a:r>
            </a:p>
          </p:txBody>
        </p:sp>
        <p:sp>
          <p:nvSpPr>
            <p:cNvPr id="31" name="Rectangle: Rounded Corners 30">
              <a:extLst>
                <a:ext uri="{FF2B5EF4-FFF2-40B4-BE49-F238E27FC236}">
                  <a16:creationId xmlns:a16="http://schemas.microsoft.com/office/drawing/2014/main" id="{D19A5861-F1FC-C19F-A36F-57668C224537}"/>
                </a:ext>
              </a:extLst>
            </p:cNvPr>
            <p:cNvSpPr/>
            <p:nvPr/>
          </p:nvSpPr>
          <p:spPr>
            <a:xfrm>
              <a:off x="6789844" y="2714909"/>
              <a:ext cx="1761893" cy="501805"/>
            </a:xfrm>
            <a:prstGeom prst="round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IE" noProof="1">
                  <a:solidFill>
                    <a:schemeClr val="accent1"/>
                  </a:solidFill>
                </a:rPr>
                <a:t>Location</a:t>
              </a:r>
            </a:p>
          </p:txBody>
        </p:sp>
        <p:sp>
          <p:nvSpPr>
            <p:cNvPr id="32" name="Rectangle: Rounded Corners 31">
              <a:extLst>
                <a:ext uri="{FF2B5EF4-FFF2-40B4-BE49-F238E27FC236}">
                  <a16:creationId xmlns:a16="http://schemas.microsoft.com/office/drawing/2014/main" id="{006246F9-993D-0B9A-3C6E-E0CFF21C520F}"/>
                </a:ext>
              </a:extLst>
            </p:cNvPr>
            <p:cNvSpPr/>
            <p:nvPr/>
          </p:nvSpPr>
          <p:spPr>
            <a:xfrm>
              <a:off x="6786739" y="3868743"/>
              <a:ext cx="1761893" cy="501805"/>
            </a:xfrm>
            <a:prstGeom prst="roundRect">
              <a:avLst/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IE" noProof="1">
                  <a:solidFill>
                    <a:schemeClr val="accent2"/>
                  </a:solidFill>
                </a:rPr>
                <a:t>PTC</a:t>
              </a:r>
            </a:p>
          </p:txBody>
        </p:sp>
        <p:sp>
          <p:nvSpPr>
            <p:cNvPr id="33" name="Rectangle: Rounded Corners 32">
              <a:extLst>
                <a:ext uri="{FF2B5EF4-FFF2-40B4-BE49-F238E27FC236}">
                  <a16:creationId xmlns:a16="http://schemas.microsoft.com/office/drawing/2014/main" id="{9BFB76D7-B9BD-176A-487F-FD77F7C77165}"/>
                </a:ext>
              </a:extLst>
            </p:cNvPr>
            <p:cNvSpPr/>
            <p:nvPr/>
          </p:nvSpPr>
          <p:spPr>
            <a:xfrm>
              <a:off x="6786739" y="4481727"/>
              <a:ext cx="1761893" cy="501805"/>
            </a:xfrm>
            <a:prstGeom prst="roundRect">
              <a:avLst/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IE" noProof="1">
                  <a:solidFill>
                    <a:schemeClr val="accent2"/>
                  </a:solidFill>
                </a:rPr>
                <a:t>MED</a:t>
              </a:r>
            </a:p>
          </p:txBody>
        </p:sp>
        <p:sp>
          <p:nvSpPr>
            <p:cNvPr id="35" name="Rectangle: Rounded Corners 34">
              <a:extLst>
                <a:ext uri="{FF2B5EF4-FFF2-40B4-BE49-F238E27FC236}">
                  <a16:creationId xmlns:a16="http://schemas.microsoft.com/office/drawing/2014/main" id="{BC462F86-B144-2AB9-2267-7FFE18EC71C0}"/>
                </a:ext>
              </a:extLst>
            </p:cNvPr>
            <p:cNvSpPr/>
            <p:nvPr/>
          </p:nvSpPr>
          <p:spPr>
            <a:xfrm>
              <a:off x="6789843" y="3280504"/>
              <a:ext cx="1761893" cy="501805"/>
            </a:xfrm>
            <a:prstGeom prst="roundRect">
              <a:avLst/>
            </a:prstGeom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IE" noProof="1">
                  <a:solidFill>
                    <a:schemeClr val="accent5"/>
                  </a:solidFill>
                </a:rPr>
                <a:t>Weather</a:t>
              </a:r>
            </a:p>
          </p:txBody>
        </p: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1937D759-E297-45D5-A433-8D5CB3DFBB5C}"/>
              </a:ext>
            </a:extLst>
          </p:cNvPr>
          <p:cNvGrpSpPr/>
          <p:nvPr/>
        </p:nvGrpSpPr>
        <p:grpSpPr>
          <a:xfrm>
            <a:off x="3850562" y="1576463"/>
            <a:ext cx="2732049" cy="4202035"/>
            <a:chOff x="9336962" y="1576465"/>
            <a:chExt cx="2732049" cy="4202035"/>
          </a:xfrm>
        </p:grpSpPr>
        <p:sp>
          <p:nvSpPr>
            <p:cNvPr id="36" name="Rectangle: Rounded Corners 35">
              <a:extLst>
                <a:ext uri="{FF2B5EF4-FFF2-40B4-BE49-F238E27FC236}">
                  <a16:creationId xmlns:a16="http://schemas.microsoft.com/office/drawing/2014/main" id="{3FFFFB88-F2EB-57A1-E43C-77240FF7E545}"/>
                </a:ext>
              </a:extLst>
            </p:cNvPr>
            <p:cNvSpPr/>
            <p:nvPr/>
          </p:nvSpPr>
          <p:spPr>
            <a:xfrm>
              <a:off x="9336962" y="1576465"/>
              <a:ext cx="2732049" cy="4202035"/>
            </a:xfrm>
            <a:prstGeom prst="round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t"/>
            <a:lstStyle/>
            <a:p>
              <a:pPr algn="ctr"/>
              <a:r>
                <a:rPr lang="en-IE" noProof="1"/>
                <a:t>HDH</a:t>
              </a:r>
            </a:p>
          </p:txBody>
        </p:sp>
        <p:sp>
          <p:nvSpPr>
            <p:cNvPr id="37" name="Rectangle: Rounded Corners 36">
              <a:extLst>
                <a:ext uri="{FF2B5EF4-FFF2-40B4-BE49-F238E27FC236}">
                  <a16:creationId xmlns:a16="http://schemas.microsoft.com/office/drawing/2014/main" id="{B075F9B0-89F4-4B63-5E23-B7F04CF45FD0}"/>
                </a:ext>
              </a:extLst>
            </p:cNvPr>
            <p:cNvSpPr/>
            <p:nvPr/>
          </p:nvSpPr>
          <p:spPr>
            <a:xfrm>
              <a:off x="9825149" y="2126670"/>
              <a:ext cx="1761893" cy="501805"/>
            </a:xfrm>
            <a:prstGeom prst="round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IE" noProof="1">
                  <a:solidFill>
                    <a:schemeClr val="accent1"/>
                  </a:solidFill>
                </a:rPr>
                <a:t>Settings</a:t>
              </a:r>
            </a:p>
          </p:txBody>
        </p:sp>
        <p:sp>
          <p:nvSpPr>
            <p:cNvPr id="38" name="Rectangle: Rounded Corners 37">
              <a:extLst>
                <a:ext uri="{FF2B5EF4-FFF2-40B4-BE49-F238E27FC236}">
                  <a16:creationId xmlns:a16="http://schemas.microsoft.com/office/drawing/2014/main" id="{71476E60-46A5-8351-70E9-0F31E36DB2E6}"/>
                </a:ext>
              </a:extLst>
            </p:cNvPr>
            <p:cNvSpPr/>
            <p:nvPr/>
          </p:nvSpPr>
          <p:spPr>
            <a:xfrm>
              <a:off x="9825144" y="2714909"/>
              <a:ext cx="1761893" cy="501805"/>
            </a:xfrm>
            <a:prstGeom prst="round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IE" noProof="1">
                  <a:solidFill>
                    <a:schemeClr val="accent1"/>
                  </a:solidFill>
                </a:rPr>
                <a:t>Location</a:t>
              </a:r>
            </a:p>
          </p:txBody>
        </p:sp>
        <p:sp>
          <p:nvSpPr>
            <p:cNvPr id="39" name="Rectangle: Rounded Corners 38">
              <a:extLst>
                <a:ext uri="{FF2B5EF4-FFF2-40B4-BE49-F238E27FC236}">
                  <a16:creationId xmlns:a16="http://schemas.microsoft.com/office/drawing/2014/main" id="{5D6D9959-0FCF-D180-BE28-37D2B56F61C5}"/>
                </a:ext>
              </a:extLst>
            </p:cNvPr>
            <p:cNvSpPr/>
            <p:nvPr/>
          </p:nvSpPr>
          <p:spPr>
            <a:xfrm>
              <a:off x="9822039" y="3868743"/>
              <a:ext cx="1761893" cy="501805"/>
            </a:xfrm>
            <a:prstGeom prst="roundRect">
              <a:avLst/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IE" noProof="1">
                  <a:solidFill>
                    <a:schemeClr val="accent2"/>
                  </a:solidFill>
                </a:rPr>
                <a:t>CAES</a:t>
              </a:r>
            </a:p>
          </p:txBody>
        </p:sp>
        <p:sp>
          <p:nvSpPr>
            <p:cNvPr id="41" name="Rectangle: Rounded Corners 40">
              <a:extLst>
                <a:ext uri="{FF2B5EF4-FFF2-40B4-BE49-F238E27FC236}">
                  <a16:creationId xmlns:a16="http://schemas.microsoft.com/office/drawing/2014/main" id="{8F74EA40-F44E-2E38-9FBB-4D1D6F8BAE50}"/>
                </a:ext>
              </a:extLst>
            </p:cNvPr>
            <p:cNvSpPr/>
            <p:nvPr/>
          </p:nvSpPr>
          <p:spPr>
            <a:xfrm>
              <a:off x="9822039" y="4466477"/>
              <a:ext cx="1761894" cy="501805"/>
            </a:xfrm>
            <a:prstGeom prst="roundRect">
              <a:avLst/>
            </a:prstGeom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IE" noProof="1">
                  <a:solidFill>
                    <a:schemeClr val="accent5"/>
                  </a:solidFill>
                </a:rPr>
                <a:t>Market</a:t>
              </a:r>
            </a:p>
          </p:txBody>
        </p:sp>
        <p:sp>
          <p:nvSpPr>
            <p:cNvPr id="42" name="Rectangle: Rounded Corners 41">
              <a:extLst>
                <a:ext uri="{FF2B5EF4-FFF2-40B4-BE49-F238E27FC236}">
                  <a16:creationId xmlns:a16="http://schemas.microsoft.com/office/drawing/2014/main" id="{C540D844-2E26-5EBA-07CF-B0D198E37699}"/>
                </a:ext>
              </a:extLst>
            </p:cNvPr>
            <p:cNvSpPr/>
            <p:nvPr/>
          </p:nvSpPr>
          <p:spPr>
            <a:xfrm>
              <a:off x="9825143" y="3280504"/>
              <a:ext cx="1761893" cy="501805"/>
            </a:xfrm>
            <a:prstGeom prst="roundRect">
              <a:avLst/>
            </a:prstGeom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IE" noProof="1">
                  <a:solidFill>
                    <a:schemeClr val="accent5"/>
                  </a:solidFill>
                </a:rPr>
                <a:t>Weather</a:t>
              </a:r>
            </a:p>
          </p:txBody>
        </p:sp>
      </p:grpSp>
      <p:sp>
        <p:nvSpPr>
          <p:cNvPr id="20" name="Title 1">
            <a:extLst>
              <a:ext uri="{FF2B5EF4-FFF2-40B4-BE49-F238E27FC236}">
                <a16:creationId xmlns:a16="http://schemas.microsoft.com/office/drawing/2014/main" id="{0DFD5482-0531-C01D-21BC-3C3BE59F6C7D}"/>
              </a:ext>
            </a:extLst>
          </p:cNvPr>
          <p:cNvSpPr txBox="1">
            <a:spLocks/>
          </p:cNvSpPr>
          <p:nvPr/>
        </p:nvSpPr>
        <p:spPr>
          <a:xfrm>
            <a:off x="4664910" y="352675"/>
            <a:ext cx="5585521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E" noProof="1"/>
              <a:t>research assistant</a:t>
            </a: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460848BE-72F4-7583-6E25-49FDCAC2C5D7}"/>
              </a:ext>
            </a:extLst>
          </p:cNvPr>
          <p:cNvGrpSpPr/>
          <p:nvPr/>
        </p:nvGrpSpPr>
        <p:grpSpPr>
          <a:xfrm>
            <a:off x="6911880" y="1627351"/>
            <a:ext cx="2732049" cy="4202035"/>
            <a:chOff x="9336962" y="1576465"/>
            <a:chExt cx="2732049" cy="4202035"/>
          </a:xfrm>
        </p:grpSpPr>
        <p:sp>
          <p:nvSpPr>
            <p:cNvPr id="24" name="Rectangle: Rounded Corners 23">
              <a:extLst>
                <a:ext uri="{FF2B5EF4-FFF2-40B4-BE49-F238E27FC236}">
                  <a16:creationId xmlns:a16="http://schemas.microsoft.com/office/drawing/2014/main" id="{DF24068B-E269-E057-3B7C-0DDBC59FF9A7}"/>
                </a:ext>
              </a:extLst>
            </p:cNvPr>
            <p:cNvSpPr/>
            <p:nvPr/>
          </p:nvSpPr>
          <p:spPr>
            <a:xfrm>
              <a:off x="9336962" y="1576465"/>
              <a:ext cx="2732049" cy="4202035"/>
            </a:xfrm>
            <a:prstGeom prst="round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t"/>
            <a:lstStyle/>
            <a:p>
              <a:pPr algn="ctr"/>
              <a:r>
                <a:rPr lang="en-IE" noProof="1"/>
                <a:t>CAES</a:t>
              </a:r>
            </a:p>
          </p:txBody>
        </p:sp>
        <p:sp>
          <p:nvSpPr>
            <p:cNvPr id="25" name="Rectangle: Rounded Corners 24">
              <a:extLst>
                <a:ext uri="{FF2B5EF4-FFF2-40B4-BE49-F238E27FC236}">
                  <a16:creationId xmlns:a16="http://schemas.microsoft.com/office/drawing/2014/main" id="{EC2146B5-31C0-0BFA-D961-6C5151C59B6F}"/>
                </a:ext>
              </a:extLst>
            </p:cNvPr>
            <p:cNvSpPr/>
            <p:nvPr/>
          </p:nvSpPr>
          <p:spPr>
            <a:xfrm>
              <a:off x="9825149" y="2126670"/>
              <a:ext cx="1761893" cy="501805"/>
            </a:xfrm>
            <a:prstGeom prst="round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IE" noProof="1">
                  <a:solidFill>
                    <a:schemeClr val="accent1"/>
                  </a:solidFill>
                </a:rPr>
                <a:t>Settings</a:t>
              </a:r>
            </a:p>
          </p:txBody>
        </p:sp>
        <p:sp>
          <p:nvSpPr>
            <p:cNvPr id="26" name="Rectangle: Rounded Corners 25">
              <a:extLst>
                <a:ext uri="{FF2B5EF4-FFF2-40B4-BE49-F238E27FC236}">
                  <a16:creationId xmlns:a16="http://schemas.microsoft.com/office/drawing/2014/main" id="{9A489DD9-1327-FD30-AF26-3D376B1E2808}"/>
                </a:ext>
              </a:extLst>
            </p:cNvPr>
            <p:cNvSpPr/>
            <p:nvPr/>
          </p:nvSpPr>
          <p:spPr>
            <a:xfrm>
              <a:off x="9825144" y="2714909"/>
              <a:ext cx="1761893" cy="501805"/>
            </a:xfrm>
            <a:prstGeom prst="round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IE" noProof="1">
                  <a:solidFill>
                    <a:schemeClr val="accent1"/>
                  </a:solidFill>
                </a:rPr>
                <a:t>Location</a:t>
              </a:r>
            </a:p>
          </p:txBody>
        </p:sp>
        <p:sp>
          <p:nvSpPr>
            <p:cNvPr id="27" name="Rectangle: Rounded Corners 26">
              <a:extLst>
                <a:ext uri="{FF2B5EF4-FFF2-40B4-BE49-F238E27FC236}">
                  <a16:creationId xmlns:a16="http://schemas.microsoft.com/office/drawing/2014/main" id="{8F554250-495D-8BDA-915D-A78AD4E1CE83}"/>
                </a:ext>
              </a:extLst>
            </p:cNvPr>
            <p:cNvSpPr/>
            <p:nvPr/>
          </p:nvSpPr>
          <p:spPr>
            <a:xfrm>
              <a:off x="9822039" y="3868743"/>
              <a:ext cx="1761893" cy="501805"/>
            </a:xfrm>
            <a:prstGeom prst="roundRect">
              <a:avLst/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IE" noProof="1">
                  <a:solidFill>
                    <a:schemeClr val="accent2"/>
                  </a:solidFill>
                </a:rPr>
                <a:t>CAES</a:t>
              </a:r>
            </a:p>
          </p:txBody>
        </p:sp>
        <p:sp>
          <p:nvSpPr>
            <p:cNvPr id="29" name="Rectangle: Rounded Corners 28">
              <a:extLst>
                <a:ext uri="{FF2B5EF4-FFF2-40B4-BE49-F238E27FC236}">
                  <a16:creationId xmlns:a16="http://schemas.microsoft.com/office/drawing/2014/main" id="{11CB0059-5AF1-C58A-E7E6-940B04F2D898}"/>
                </a:ext>
              </a:extLst>
            </p:cNvPr>
            <p:cNvSpPr/>
            <p:nvPr/>
          </p:nvSpPr>
          <p:spPr>
            <a:xfrm>
              <a:off x="9822039" y="4466477"/>
              <a:ext cx="1761894" cy="501805"/>
            </a:xfrm>
            <a:prstGeom prst="roundRect">
              <a:avLst/>
            </a:prstGeom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IE" noProof="1">
                  <a:solidFill>
                    <a:schemeClr val="accent5"/>
                  </a:solidFill>
                </a:rPr>
                <a:t>Market</a:t>
              </a:r>
            </a:p>
          </p:txBody>
        </p:sp>
        <p:sp>
          <p:nvSpPr>
            <p:cNvPr id="40" name="Rectangle: Rounded Corners 39">
              <a:extLst>
                <a:ext uri="{FF2B5EF4-FFF2-40B4-BE49-F238E27FC236}">
                  <a16:creationId xmlns:a16="http://schemas.microsoft.com/office/drawing/2014/main" id="{38A3A396-00B2-FFBA-A01C-FC26828CF5EA}"/>
                </a:ext>
              </a:extLst>
            </p:cNvPr>
            <p:cNvSpPr/>
            <p:nvPr/>
          </p:nvSpPr>
          <p:spPr>
            <a:xfrm>
              <a:off x="9825143" y="3280504"/>
              <a:ext cx="1761893" cy="501805"/>
            </a:xfrm>
            <a:prstGeom prst="roundRect">
              <a:avLst/>
            </a:prstGeom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IE" noProof="1">
                  <a:solidFill>
                    <a:schemeClr val="accent5"/>
                  </a:solidFill>
                </a:rPr>
                <a:t>Weather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5777956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DC16EB-4349-15F5-035A-C5B0F5A675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8A2517-DC32-A828-CD5A-30A46F9418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89355" y="290634"/>
            <a:ext cx="3352800" cy="1325563"/>
          </a:xfrm>
        </p:spPr>
        <p:txBody>
          <a:bodyPr/>
          <a:lstStyle/>
          <a:p>
            <a:r>
              <a:rPr lang="en-IE" noProof="1"/>
              <a:t>postdoc_2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9CFFAB82-665A-FC5E-6151-75E7815D8AE4}"/>
              </a:ext>
            </a:extLst>
          </p:cNvPr>
          <p:cNvSpPr txBox="1">
            <a:spLocks/>
          </p:cNvSpPr>
          <p:nvPr/>
        </p:nvSpPr>
        <p:spPr>
          <a:xfrm>
            <a:off x="6939205" y="341096"/>
            <a:ext cx="4457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E" noProof="1"/>
              <a:t>postdoc_1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3B48B27D-B0FE-2037-A1A7-6C50EEFA8384}"/>
              </a:ext>
            </a:extLst>
          </p:cNvPr>
          <p:cNvGrpSpPr/>
          <p:nvPr/>
        </p:nvGrpSpPr>
        <p:grpSpPr>
          <a:xfrm>
            <a:off x="1167055" y="1585867"/>
            <a:ext cx="3975100" cy="5053088"/>
            <a:chOff x="893056" y="1614489"/>
            <a:chExt cx="1928938" cy="5053088"/>
          </a:xfrm>
        </p:grpSpPr>
        <p:sp>
          <p:nvSpPr>
            <p:cNvPr id="11" name="Rectangle: Rounded Corners 10">
              <a:extLst>
                <a:ext uri="{FF2B5EF4-FFF2-40B4-BE49-F238E27FC236}">
                  <a16:creationId xmlns:a16="http://schemas.microsoft.com/office/drawing/2014/main" id="{7ADC10ED-A03C-2177-D59B-E9C27A434C8E}"/>
                </a:ext>
              </a:extLst>
            </p:cNvPr>
            <p:cNvSpPr/>
            <p:nvPr/>
          </p:nvSpPr>
          <p:spPr>
            <a:xfrm>
              <a:off x="893056" y="1614489"/>
              <a:ext cx="1928938" cy="5053088"/>
            </a:xfrm>
            <a:prstGeom prst="roundRect">
              <a:avLst>
                <a:gd name="adj" fmla="val 3656"/>
              </a:avLst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t"/>
            <a:lstStyle/>
            <a:p>
              <a:pPr algn="ctr"/>
              <a:r>
                <a:rPr lang="en-IE" noProof="1"/>
                <a:t>/bdr_csp</a:t>
              </a:r>
            </a:p>
          </p:txBody>
        </p:sp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F10249B5-028B-7D2D-3A20-E080771667A0}"/>
                </a:ext>
              </a:extLst>
            </p:cNvPr>
            <p:cNvSpPr/>
            <p:nvPr/>
          </p:nvSpPr>
          <p:spPr>
            <a:xfrm>
              <a:off x="950949" y="5547392"/>
              <a:ext cx="1761893" cy="501805"/>
            </a:xfrm>
            <a:prstGeom prst="roundRect">
              <a:avLst/>
            </a:prstGeom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IE" noProof="1">
                  <a:solidFill>
                    <a:schemeClr val="accent5"/>
                  </a:solidFill>
                </a:rPr>
                <a:t>weather data</a:t>
              </a:r>
            </a:p>
          </p:txBody>
        </p:sp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FFDB26FB-8A97-5375-9E82-CC84C90B7BE5}"/>
                </a:ext>
              </a:extLst>
            </p:cNvPr>
            <p:cNvSpPr/>
            <p:nvPr/>
          </p:nvSpPr>
          <p:spPr>
            <a:xfrm>
              <a:off x="950949" y="4040436"/>
              <a:ext cx="1761893" cy="501805"/>
            </a:xfrm>
            <a:prstGeom prst="roundRect">
              <a:avLst/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IE" noProof="1">
                  <a:solidFill>
                    <a:schemeClr val="accent2"/>
                  </a:solidFill>
                </a:rPr>
                <a:t>thermal analysis (particle receiver)</a:t>
              </a:r>
            </a:p>
          </p:txBody>
        </p:sp>
        <p:sp>
          <p:nvSpPr>
            <p:cNvPr id="15" name="Rectangle: Rounded Corners 14">
              <a:extLst>
                <a:ext uri="{FF2B5EF4-FFF2-40B4-BE49-F238E27FC236}">
                  <a16:creationId xmlns:a16="http://schemas.microsoft.com/office/drawing/2014/main" id="{3AE3FA1E-3506-FD3C-F976-77FA24982F82}"/>
                </a:ext>
              </a:extLst>
            </p:cNvPr>
            <p:cNvSpPr/>
            <p:nvPr/>
          </p:nvSpPr>
          <p:spPr>
            <a:xfrm>
              <a:off x="950949" y="4618257"/>
              <a:ext cx="1761894" cy="501805"/>
            </a:xfrm>
            <a:prstGeom prst="roundRect">
              <a:avLst/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IE" noProof="1">
                  <a:solidFill>
                    <a:schemeClr val="accent2"/>
                  </a:solidFill>
                </a:rPr>
                <a:t>power generation (dispatch)</a:t>
              </a:r>
            </a:p>
          </p:txBody>
        </p:sp>
        <p:sp>
          <p:nvSpPr>
            <p:cNvPr id="16" name="Rectangle: Rounded Corners 15">
              <a:extLst>
                <a:ext uri="{FF2B5EF4-FFF2-40B4-BE49-F238E27FC236}">
                  <a16:creationId xmlns:a16="http://schemas.microsoft.com/office/drawing/2014/main" id="{D7D96856-C6FD-6D69-BB18-5766E9897702}"/>
                </a:ext>
              </a:extLst>
            </p:cNvPr>
            <p:cNvSpPr/>
            <p:nvPr/>
          </p:nvSpPr>
          <p:spPr>
            <a:xfrm>
              <a:off x="950949" y="3480344"/>
              <a:ext cx="1761893" cy="501805"/>
            </a:xfrm>
            <a:prstGeom prst="roundRect">
              <a:avLst/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IE" noProof="1">
                  <a:solidFill>
                    <a:schemeClr val="accent2"/>
                  </a:solidFill>
                </a:rPr>
                <a:t>optical analysis (beam down)</a:t>
              </a:r>
            </a:p>
          </p:txBody>
        </p:sp>
        <p:sp>
          <p:nvSpPr>
            <p:cNvPr id="17" name="Rectangle: Rounded Corners 16">
              <a:extLst>
                <a:ext uri="{FF2B5EF4-FFF2-40B4-BE49-F238E27FC236}">
                  <a16:creationId xmlns:a16="http://schemas.microsoft.com/office/drawing/2014/main" id="{BEB857F1-038F-0C68-F429-5376A3BE8D09}"/>
                </a:ext>
              </a:extLst>
            </p:cNvPr>
            <p:cNvSpPr/>
            <p:nvPr/>
          </p:nvSpPr>
          <p:spPr>
            <a:xfrm>
              <a:off x="950950" y="6094183"/>
              <a:ext cx="1761894" cy="501805"/>
            </a:xfrm>
            <a:prstGeom prst="roundRect">
              <a:avLst/>
            </a:prstGeom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IE" noProof="1">
                  <a:solidFill>
                    <a:schemeClr val="accent5"/>
                  </a:solidFill>
                </a:rPr>
                <a:t>market data</a:t>
              </a:r>
            </a:p>
          </p:txBody>
        </p:sp>
        <p:sp>
          <p:nvSpPr>
            <p:cNvPr id="18" name="Rectangle: Rounded Corners 17">
              <a:extLst>
                <a:ext uri="{FF2B5EF4-FFF2-40B4-BE49-F238E27FC236}">
                  <a16:creationId xmlns:a16="http://schemas.microsoft.com/office/drawing/2014/main" id="{3C827AEE-0D55-AD6A-B2ED-B9004283CC78}"/>
                </a:ext>
              </a:extLst>
            </p:cNvPr>
            <p:cNvSpPr/>
            <p:nvPr/>
          </p:nvSpPr>
          <p:spPr>
            <a:xfrm>
              <a:off x="950949" y="2109645"/>
              <a:ext cx="1761893" cy="501805"/>
            </a:xfrm>
            <a:prstGeom prst="round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IE" noProof="1">
                  <a:solidFill>
                    <a:schemeClr val="accent1"/>
                  </a:solidFill>
                </a:rPr>
                <a:t>settings</a:t>
              </a:r>
            </a:p>
          </p:txBody>
        </p:sp>
        <p:sp>
          <p:nvSpPr>
            <p:cNvPr id="19" name="Rectangle: Rounded Corners 18">
              <a:extLst>
                <a:ext uri="{FF2B5EF4-FFF2-40B4-BE49-F238E27FC236}">
                  <a16:creationId xmlns:a16="http://schemas.microsoft.com/office/drawing/2014/main" id="{B81E8492-984A-7533-9A45-0DB07CD9E541}"/>
                </a:ext>
              </a:extLst>
            </p:cNvPr>
            <p:cNvSpPr/>
            <p:nvPr/>
          </p:nvSpPr>
          <p:spPr>
            <a:xfrm>
              <a:off x="950949" y="2676116"/>
              <a:ext cx="1761893" cy="501805"/>
            </a:xfrm>
            <a:prstGeom prst="round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IE" noProof="1">
                  <a:solidFill>
                    <a:schemeClr val="accent1"/>
                  </a:solidFill>
                </a:rPr>
                <a:t>location</a:t>
              </a: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4D58DEE9-947A-2C49-AD15-365ED812B45D}"/>
              </a:ext>
            </a:extLst>
          </p:cNvPr>
          <p:cNvGrpSpPr/>
          <p:nvPr/>
        </p:nvGrpSpPr>
        <p:grpSpPr>
          <a:xfrm>
            <a:off x="6680201" y="1585867"/>
            <a:ext cx="3975100" cy="5053088"/>
            <a:chOff x="893056" y="1614489"/>
            <a:chExt cx="1928938" cy="5053088"/>
          </a:xfrm>
        </p:grpSpPr>
        <p:sp>
          <p:nvSpPr>
            <p:cNvPr id="21" name="Rectangle: Rounded Corners 20">
              <a:extLst>
                <a:ext uri="{FF2B5EF4-FFF2-40B4-BE49-F238E27FC236}">
                  <a16:creationId xmlns:a16="http://schemas.microsoft.com/office/drawing/2014/main" id="{E72155F6-0607-F894-64B7-95A5C5CF03B1}"/>
                </a:ext>
              </a:extLst>
            </p:cNvPr>
            <p:cNvSpPr/>
            <p:nvPr/>
          </p:nvSpPr>
          <p:spPr>
            <a:xfrm>
              <a:off x="893056" y="1614489"/>
              <a:ext cx="1928938" cy="5053088"/>
            </a:xfrm>
            <a:prstGeom prst="roundRect">
              <a:avLst>
                <a:gd name="adj" fmla="val 3656"/>
              </a:avLst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t"/>
            <a:lstStyle/>
            <a:p>
              <a:pPr algn="ctr"/>
              <a:r>
                <a:rPr lang="en-IE" noProof="1"/>
                <a:t>/tm_solarshift</a:t>
              </a:r>
            </a:p>
          </p:txBody>
        </p:sp>
        <p:sp>
          <p:nvSpPr>
            <p:cNvPr id="22" name="Rectangle: Rounded Corners 21">
              <a:extLst>
                <a:ext uri="{FF2B5EF4-FFF2-40B4-BE49-F238E27FC236}">
                  <a16:creationId xmlns:a16="http://schemas.microsoft.com/office/drawing/2014/main" id="{34DF07B3-F423-E379-527C-A6E1E03D8A64}"/>
                </a:ext>
              </a:extLst>
            </p:cNvPr>
            <p:cNvSpPr/>
            <p:nvPr/>
          </p:nvSpPr>
          <p:spPr>
            <a:xfrm>
              <a:off x="950949" y="5547392"/>
              <a:ext cx="1761893" cy="501805"/>
            </a:xfrm>
            <a:prstGeom prst="roundRect">
              <a:avLst/>
            </a:prstGeom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IE" noProof="1">
                  <a:solidFill>
                    <a:schemeClr val="accent5"/>
                  </a:solidFill>
                </a:rPr>
                <a:t>weather data</a:t>
              </a:r>
            </a:p>
          </p:txBody>
        </p:sp>
        <p:sp>
          <p:nvSpPr>
            <p:cNvPr id="23" name="Rectangle: Rounded Corners 22">
              <a:extLst>
                <a:ext uri="{FF2B5EF4-FFF2-40B4-BE49-F238E27FC236}">
                  <a16:creationId xmlns:a16="http://schemas.microsoft.com/office/drawing/2014/main" id="{5113D0AD-80F3-F44D-4CD2-5C83F6407490}"/>
                </a:ext>
              </a:extLst>
            </p:cNvPr>
            <p:cNvSpPr/>
            <p:nvPr/>
          </p:nvSpPr>
          <p:spPr>
            <a:xfrm>
              <a:off x="950949" y="4040436"/>
              <a:ext cx="1761893" cy="501805"/>
            </a:xfrm>
            <a:prstGeom prst="roundRect">
              <a:avLst/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IE" noProof="1">
                  <a:solidFill>
                    <a:schemeClr val="accent2"/>
                  </a:solidFill>
                </a:rPr>
                <a:t>thermal analysis (particle receiver)</a:t>
              </a:r>
            </a:p>
          </p:txBody>
        </p:sp>
        <p:sp>
          <p:nvSpPr>
            <p:cNvPr id="24" name="Rectangle: Rounded Corners 23">
              <a:extLst>
                <a:ext uri="{FF2B5EF4-FFF2-40B4-BE49-F238E27FC236}">
                  <a16:creationId xmlns:a16="http://schemas.microsoft.com/office/drawing/2014/main" id="{460D0AC1-2783-8E5D-89F1-09BA4FB47395}"/>
                </a:ext>
              </a:extLst>
            </p:cNvPr>
            <p:cNvSpPr/>
            <p:nvPr/>
          </p:nvSpPr>
          <p:spPr>
            <a:xfrm>
              <a:off x="950949" y="4618257"/>
              <a:ext cx="1761894" cy="501805"/>
            </a:xfrm>
            <a:prstGeom prst="roundRect">
              <a:avLst/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IE" noProof="1">
                  <a:solidFill>
                    <a:schemeClr val="accent2"/>
                  </a:solidFill>
                </a:rPr>
                <a:t>power generation (dispatch)</a:t>
              </a:r>
            </a:p>
          </p:txBody>
        </p:sp>
        <p:sp>
          <p:nvSpPr>
            <p:cNvPr id="25" name="Rectangle: Rounded Corners 24">
              <a:extLst>
                <a:ext uri="{FF2B5EF4-FFF2-40B4-BE49-F238E27FC236}">
                  <a16:creationId xmlns:a16="http://schemas.microsoft.com/office/drawing/2014/main" id="{04B02A39-B08A-4A7D-517D-B1A40A675624}"/>
                </a:ext>
              </a:extLst>
            </p:cNvPr>
            <p:cNvSpPr/>
            <p:nvPr/>
          </p:nvSpPr>
          <p:spPr>
            <a:xfrm>
              <a:off x="950949" y="3480344"/>
              <a:ext cx="1761893" cy="501805"/>
            </a:xfrm>
            <a:prstGeom prst="roundRect">
              <a:avLst/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IE" noProof="1">
                  <a:solidFill>
                    <a:schemeClr val="accent2"/>
                  </a:solidFill>
                </a:rPr>
                <a:t>optical analysis (beam down)</a:t>
              </a:r>
            </a:p>
          </p:txBody>
        </p:sp>
        <p:sp>
          <p:nvSpPr>
            <p:cNvPr id="26" name="Rectangle: Rounded Corners 25">
              <a:extLst>
                <a:ext uri="{FF2B5EF4-FFF2-40B4-BE49-F238E27FC236}">
                  <a16:creationId xmlns:a16="http://schemas.microsoft.com/office/drawing/2014/main" id="{7528F313-7409-51DE-0183-138BF6FB1E9B}"/>
                </a:ext>
              </a:extLst>
            </p:cNvPr>
            <p:cNvSpPr/>
            <p:nvPr/>
          </p:nvSpPr>
          <p:spPr>
            <a:xfrm>
              <a:off x="950950" y="6094183"/>
              <a:ext cx="1761894" cy="501805"/>
            </a:xfrm>
            <a:prstGeom prst="roundRect">
              <a:avLst/>
            </a:prstGeom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IE" noProof="1">
                  <a:solidFill>
                    <a:schemeClr val="accent5"/>
                  </a:solidFill>
                </a:rPr>
                <a:t>market data</a:t>
              </a:r>
            </a:p>
          </p:txBody>
        </p:sp>
        <p:sp>
          <p:nvSpPr>
            <p:cNvPr id="27" name="Rectangle: Rounded Corners 26">
              <a:extLst>
                <a:ext uri="{FF2B5EF4-FFF2-40B4-BE49-F238E27FC236}">
                  <a16:creationId xmlns:a16="http://schemas.microsoft.com/office/drawing/2014/main" id="{9202022A-1C42-8DE4-B657-B28770F66584}"/>
                </a:ext>
              </a:extLst>
            </p:cNvPr>
            <p:cNvSpPr/>
            <p:nvPr/>
          </p:nvSpPr>
          <p:spPr>
            <a:xfrm>
              <a:off x="950949" y="2109645"/>
              <a:ext cx="1761893" cy="501805"/>
            </a:xfrm>
            <a:prstGeom prst="round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IE" noProof="1">
                  <a:solidFill>
                    <a:schemeClr val="accent1"/>
                  </a:solidFill>
                </a:rPr>
                <a:t>settings</a:t>
              </a:r>
            </a:p>
          </p:txBody>
        </p:sp>
        <p:sp>
          <p:nvSpPr>
            <p:cNvPr id="29" name="Rectangle: Rounded Corners 28">
              <a:extLst>
                <a:ext uri="{FF2B5EF4-FFF2-40B4-BE49-F238E27FC236}">
                  <a16:creationId xmlns:a16="http://schemas.microsoft.com/office/drawing/2014/main" id="{6B662275-2B41-EFE6-B337-3C4D9B45505D}"/>
                </a:ext>
              </a:extLst>
            </p:cNvPr>
            <p:cNvSpPr/>
            <p:nvPr/>
          </p:nvSpPr>
          <p:spPr>
            <a:xfrm>
              <a:off x="950949" y="2676116"/>
              <a:ext cx="1761893" cy="501805"/>
            </a:xfrm>
            <a:prstGeom prst="round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IE" noProof="1">
                  <a:solidFill>
                    <a:schemeClr val="accent1"/>
                  </a:solidFill>
                </a:rPr>
                <a:t>location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6994897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E3920F-B17B-F871-7C24-BD1E8061F5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DB39C-010A-AB44-64B0-8C0A859748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noProof="1"/>
              <a:t>postdoc</a:t>
            </a:r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66EBDD1D-9341-158A-1674-6CC696ABD534}"/>
              </a:ext>
            </a:extLst>
          </p:cNvPr>
          <p:cNvGrpSpPr/>
          <p:nvPr/>
        </p:nvGrpSpPr>
        <p:grpSpPr>
          <a:xfrm>
            <a:off x="465872" y="1611267"/>
            <a:ext cx="5630128" cy="5053088"/>
            <a:chOff x="465872" y="1614489"/>
            <a:chExt cx="2732049" cy="5053088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B4C4E948-8F12-7AB9-4522-328A0EE86CB4}"/>
                </a:ext>
              </a:extLst>
            </p:cNvPr>
            <p:cNvSpPr/>
            <p:nvPr/>
          </p:nvSpPr>
          <p:spPr>
            <a:xfrm>
              <a:off x="465872" y="1614489"/>
              <a:ext cx="2732049" cy="5053088"/>
            </a:xfrm>
            <a:prstGeom prst="roundRect">
              <a:avLst>
                <a:gd name="adj" fmla="val 6212"/>
              </a:avLst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t"/>
            <a:lstStyle/>
            <a:p>
              <a:pPr algn="ctr"/>
              <a:r>
                <a:rPr lang="en-IE" noProof="1"/>
                <a:t>CSP Plant</a:t>
              </a:r>
            </a:p>
          </p:txBody>
        </p:sp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69607E51-5068-09B3-168A-071B48B2FCC3}"/>
                </a:ext>
              </a:extLst>
            </p:cNvPr>
            <p:cNvSpPr/>
            <p:nvPr/>
          </p:nvSpPr>
          <p:spPr>
            <a:xfrm>
              <a:off x="950949" y="5547392"/>
              <a:ext cx="1761893" cy="501805"/>
            </a:xfrm>
            <a:prstGeom prst="roundRect">
              <a:avLst/>
            </a:prstGeom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IE" noProof="1">
                  <a:solidFill>
                    <a:schemeClr val="accent5"/>
                  </a:solidFill>
                </a:rPr>
                <a:t>weather data</a:t>
              </a:r>
            </a:p>
          </p:txBody>
        </p:sp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1FFC234A-D6E1-5FEE-E402-BAF5534B4FB8}"/>
                </a:ext>
              </a:extLst>
            </p:cNvPr>
            <p:cNvSpPr/>
            <p:nvPr/>
          </p:nvSpPr>
          <p:spPr>
            <a:xfrm>
              <a:off x="950949" y="4040436"/>
              <a:ext cx="1761893" cy="501805"/>
            </a:xfrm>
            <a:prstGeom prst="roundRect">
              <a:avLst/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IE" noProof="1">
                  <a:solidFill>
                    <a:schemeClr val="accent2"/>
                  </a:solidFill>
                </a:rPr>
                <a:t>thermal analysis (particle receiver)</a:t>
              </a:r>
            </a:p>
          </p:txBody>
        </p:sp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968854D6-C2E5-48E9-A041-D0241DCE87CB}"/>
                </a:ext>
              </a:extLst>
            </p:cNvPr>
            <p:cNvSpPr/>
            <p:nvPr/>
          </p:nvSpPr>
          <p:spPr>
            <a:xfrm>
              <a:off x="950949" y="4618257"/>
              <a:ext cx="1761894" cy="501805"/>
            </a:xfrm>
            <a:prstGeom prst="roundRect">
              <a:avLst/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IE" noProof="1">
                  <a:solidFill>
                    <a:schemeClr val="accent2"/>
                  </a:solidFill>
                </a:rPr>
                <a:t>power generation (dispatch)</a:t>
              </a:r>
            </a:p>
          </p:txBody>
        </p:sp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FCDE6FBE-C5E7-123B-A780-7A9F0A9F4FCC}"/>
                </a:ext>
              </a:extLst>
            </p:cNvPr>
            <p:cNvSpPr/>
            <p:nvPr/>
          </p:nvSpPr>
          <p:spPr>
            <a:xfrm>
              <a:off x="950949" y="3480344"/>
              <a:ext cx="1761893" cy="501805"/>
            </a:xfrm>
            <a:prstGeom prst="roundRect">
              <a:avLst/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IE" noProof="1">
                  <a:solidFill>
                    <a:schemeClr val="accent2"/>
                  </a:solidFill>
                </a:rPr>
                <a:t>optical analysis (beam down)</a:t>
              </a:r>
            </a:p>
          </p:txBody>
        </p:sp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AEA5EE00-1694-47FD-1543-A4618D4E50D2}"/>
                </a:ext>
              </a:extLst>
            </p:cNvPr>
            <p:cNvSpPr/>
            <p:nvPr/>
          </p:nvSpPr>
          <p:spPr>
            <a:xfrm>
              <a:off x="950950" y="6094183"/>
              <a:ext cx="1761894" cy="501805"/>
            </a:xfrm>
            <a:prstGeom prst="roundRect">
              <a:avLst/>
            </a:prstGeom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IE" noProof="1">
                  <a:solidFill>
                    <a:schemeClr val="accent5"/>
                  </a:solidFill>
                </a:rPr>
                <a:t>market data</a:t>
              </a:r>
            </a:p>
          </p:txBody>
        </p:sp>
        <p:sp>
          <p:nvSpPr>
            <p:cNvPr id="14" name="Rectangle: Rounded Corners 13">
              <a:extLst>
                <a:ext uri="{FF2B5EF4-FFF2-40B4-BE49-F238E27FC236}">
                  <a16:creationId xmlns:a16="http://schemas.microsoft.com/office/drawing/2014/main" id="{E4CC1D8C-2F72-8A8D-D788-D597EFCDCE74}"/>
                </a:ext>
              </a:extLst>
            </p:cNvPr>
            <p:cNvSpPr/>
            <p:nvPr/>
          </p:nvSpPr>
          <p:spPr>
            <a:xfrm>
              <a:off x="950949" y="2109645"/>
              <a:ext cx="1761893" cy="501805"/>
            </a:xfrm>
            <a:prstGeom prst="round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IE" noProof="1">
                  <a:solidFill>
                    <a:schemeClr val="accent1"/>
                  </a:solidFill>
                </a:rPr>
                <a:t>settings</a:t>
              </a:r>
            </a:p>
          </p:txBody>
        </p:sp>
        <p:sp>
          <p:nvSpPr>
            <p:cNvPr id="28" name="Rectangle: Rounded Corners 27">
              <a:extLst>
                <a:ext uri="{FF2B5EF4-FFF2-40B4-BE49-F238E27FC236}">
                  <a16:creationId xmlns:a16="http://schemas.microsoft.com/office/drawing/2014/main" id="{55C53219-38B5-49CD-2F67-022CBC3F81E9}"/>
                </a:ext>
              </a:extLst>
            </p:cNvPr>
            <p:cNvSpPr/>
            <p:nvPr/>
          </p:nvSpPr>
          <p:spPr>
            <a:xfrm>
              <a:off x="950949" y="2676116"/>
              <a:ext cx="1761893" cy="501805"/>
            </a:xfrm>
            <a:prstGeom prst="round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IE" noProof="1">
                  <a:solidFill>
                    <a:schemeClr val="accent1"/>
                  </a:solidFill>
                </a:rPr>
                <a:t>location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0441986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6DB06E-6239-3F2C-7E97-76ABA3BCE1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noProof="1"/>
              <a:t>existing module architectures</a:t>
            </a:r>
          </a:p>
        </p:txBody>
      </p:sp>
      <p:grpSp>
        <p:nvGrpSpPr>
          <p:cNvPr id="44" name="Group 43">
            <a:extLst>
              <a:ext uri="{FF2B5EF4-FFF2-40B4-BE49-F238E27FC236}">
                <a16:creationId xmlns:a16="http://schemas.microsoft.com/office/drawing/2014/main" id="{B6632C65-8B2D-1F82-0826-B4B7F21BA203}"/>
              </a:ext>
            </a:extLst>
          </p:cNvPr>
          <p:cNvGrpSpPr/>
          <p:nvPr/>
        </p:nvGrpSpPr>
        <p:grpSpPr>
          <a:xfrm>
            <a:off x="3383767" y="1576465"/>
            <a:ext cx="2732049" cy="5167312"/>
            <a:chOff x="3383767" y="1576465"/>
            <a:chExt cx="2732049" cy="5167312"/>
          </a:xfrm>
        </p:grpSpPr>
        <p:sp>
          <p:nvSpPr>
            <p:cNvPr id="11" name="Rectangle: Rounded Corners 10">
              <a:extLst>
                <a:ext uri="{FF2B5EF4-FFF2-40B4-BE49-F238E27FC236}">
                  <a16:creationId xmlns:a16="http://schemas.microsoft.com/office/drawing/2014/main" id="{01E56B78-3CF5-15E6-C035-BCF9A5BECF4B}"/>
                </a:ext>
              </a:extLst>
            </p:cNvPr>
            <p:cNvSpPr/>
            <p:nvPr/>
          </p:nvSpPr>
          <p:spPr>
            <a:xfrm>
              <a:off x="3383767" y="1576465"/>
              <a:ext cx="2732049" cy="5167312"/>
            </a:xfrm>
            <a:prstGeom prst="round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t"/>
            <a:lstStyle/>
            <a:p>
              <a:pPr algn="ctr"/>
              <a:r>
                <a:rPr lang="en-IE" noProof="1"/>
                <a:t>DEWH</a:t>
              </a:r>
            </a:p>
          </p:txBody>
        </p:sp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F62E8FA5-AD57-3496-D7CE-2452398DDB03}"/>
                </a:ext>
              </a:extLst>
            </p:cNvPr>
            <p:cNvSpPr/>
            <p:nvPr/>
          </p:nvSpPr>
          <p:spPr>
            <a:xfrm>
              <a:off x="3868849" y="2126670"/>
              <a:ext cx="1761893" cy="501805"/>
            </a:xfrm>
            <a:prstGeom prst="round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IE" noProof="1">
                  <a:solidFill>
                    <a:schemeClr val="accent1"/>
                  </a:solidFill>
                </a:rPr>
                <a:t>Settings</a:t>
              </a:r>
            </a:p>
          </p:txBody>
        </p:sp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92B23FFA-D685-E1FA-0174-E576894B4EFA}"/>
                </a:ext>
              </a:extLst>
            </p:cNvPr>
            <p:cNvSpPr/>
            <p:nvPr/>
          </p:nvSpPr>
          <p:spPr>
            <a:xfrm>
              <a:off x="3868844" y="2714909"/>
              <a:ext cx="1761893" cy="501805"/>
            </a:xfrm>
            <a:prstGeom prst="round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IE" noProof="1">
                  <a:solidFill>
                    <a:schemeClr val="accent1"/>
                  </a:solidFill>
                </a:rPr>
                <a:t>Location</a:t>
              </a:r>
            </a:p>
          </p:txBody>
        </p:sp>
        <p:sp>
          <p:nvSpPr>
            <p:cNvPr id="15" name="Rectangle: Rounded Corners 14">
              <a:extLst>
                <a:ext uri="{FF2B5EF4-FFF2-40B4-BE49-F238E27FC236}">
                  <a16:creationId xmlns:a16="http://schemas.microsoft.com/office/drawing/2014/main" id="{00ACC886-26DB-B85F-06C1-50E6BEF005B3}"/>
                </a:ext>
              </a:extLst>
            </p:cNvPr>
            <p:cNvSpPr/>
            <p:nvPr/>
          </p:nvSpPr>
          <p:spPr>
            <a:xfrm>
              <a:off x="3868846" y="4428275"/>
              <a:ext cx="1761893" cy="501805"/>
            </a:xfrm>
            <a:prstGeom prst="roundRect">
              <a:avLst/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IE" noProof="1">
                  <a:solidFill>
                    <a:schemeClr val="accent2"/>
                  </a:solidFill>
                </a:rPr>
                <a:t>Control</a:t>
              </a:r>
            </a:p>
          </p:txBody>
        </p:sp>
        <p:sp>
          <p:nvSpPr>
            <p:cNvPr id="16" name="Rectangle: Rounded Corners 15">
              <a:extLst>
                <a:ext uri="{FF2B5EF4-FFF2-40B4-BE49-F238E27FC236}">
                  <a16:creationId xmlns:a16="http://schemas.microsoft.com/office/drawing/2014/main" id="{9FE43E71-6B34-B56A-237D-E1AA30589C0B}"/>
                </a:ext>
              </a:extLst>
            </p:cNvPr>
            <p:cNvSpPr/>
            <p:nvPr/>
          </p:nvSpPr>
          <p:spPr>
            <a:xfrm>
              <a:off x="3868846" y="5006204"/>
              <a:ext cx="1761893" cy="501805"/>
            </a:xfrm>
            <a:prstGeom prst="roundRect">
              <a:avLst/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IE" noProof="1">
                  <a:solidFill>
                    <a:schemeClr val="accent2"/>
                  </a:solidFill>
                </a:rPr>
                <a:t>DEWH</a:t>
              </a:r>
            </a:p>
          </p:txBody>
        </p:sp>
        <p:sp>
          <p:nvSpPr>
            <p:cNvPr id="17" name="Rectangle: Rounded Corners 16">
              <a:extLst>
                <a:ext uri="{FF2B5EF4-FFF2-40B4-BE49-F238E27FC236}">
                  <a16:creationId xmlns:a16="http://schemas.microsoft.com/office/drawing/2014/main" id="{6495EA7B-423E-EBC2-EB65-4DFF35FC395F}"/>
                </a:ext>
              </a:extLst>
            </p:cNvPr>
            <p:cNvSpPr/>
            <p:nvPr/>
          </p:nvSpPr>
          <p:spPr>
            <a:xfrm>
              <a:off x="3868846" y="5576046"/>
              <a:ext cx="1761893" cy="501805"/>
            </a:xfrm>
            <a:prstGeom prst="roundRect">
              <a:avLst/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IE" noProof="1">
                  <a:solidFill>
                    <a:schemeClr val="accent2"/>
                  </a:solidFill>
                </a:rPr>
                <a:t>PVSystem</a:t>
              </a:r>
            </a:p>
          </p:txBody>
        </p:sp>
        <p:sp>
          <p:nvSpPr>
            <p:cNvPr id="18" name="Rectangle: Rounded Corners 17">
              <a:extLst>
                <a:ext uri="{FF2B5EF4-FFF2-40B4-BE49-F238E27FC236}">
                  <a16:creationId xmlns:a16="http://schemas.microsoft.com/office/drawing/2014/main" id="{45CBA6FC-BF96-67E8-A1B8-C8FD88875E50}"/>
                </a:ext>
              </a:extLst>
            </p:cNvPr>
            <p:cNvSpPr/>
            <p:nvPr/>
          </p:nvSpPr>
          <p:spPr>
            <a:xfrm>
              <a:off x="3868846" y="6140372"/>
              <a:ext cx="1761894" cy="501805"/>
            </a:xfrm>
            <a:prstGeom prst="roundRect">
              <a:avLst/>
            </a:prstGeom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IE" noProof="1">
                  <a:solidFill>
                    <a:schemeClr val="accent5"/>
                  </a:solidFill>
                </a:rPr>
                <a:t>Market</a:t>
              </a:r>
            </a:p>
          </p:txBody>
        </p:sp>
        <p:sp>
          <p:nvSpPr>
            <p:cNvPr id="19" name="Rectangle: Rounded Corners 18">
              <a:extLst>
                <a:ext uri="{FF2B5EF4-FFF2-40B4-BE49-F238E27FC236}">
                  <a16:creationId xmlns:a16="http://schemas.microsoft.com/office/drawing/2014/main" id="{38BEACDB-94C2-A5F9-242E-B4A660CDC40C}"/>
                </a:ext>
              </a:extLst>
            </p:cNvPr>
            <p:cNvSpPr/>
            <p:nvPr/>
          </p:nvSpPr>
          <p:spPr>
            <a:xfrm>
              <a:off x="3868843" y="3280504"/>
              <a:ext cx="1761893" cy="501805"/>
            </a:xfrm>
            <a:prstGeom prst="roundRect">
              <a:avLst/>
            </a:prstGeom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IE" noProof="1">
                  <a:solidFill>
                    <a:schemeClr val="accent5"/>
                  </a:solidFill>
                </a:rPr>
                <a:t>Weather</a:t>
              </a:r>
            </a:p>
          </p:txBody>
        </p:sp>
        <p:sp>
          <p:nvSpPr>
            <p:cNvPr id="20" name="Rectangle: Rounded Corners 19">
              <a:extLst>
                <a:ext uri="{FF2B5EF4-FFF2-40B4-BE49-F238E27FC236}">
                  <a16:creationId xmlns:a16="http://schemas.microsoft.com/office/drawing/2014/main" id="{C6B1A716-1BA0-D3E0-D8AD-41A8E5703B3C}"/>
                </a:ext>
              </a:extLst>
            </p:cNvPr>
            <p:cNvSpPr/>
            <p:nvPr/>
          </p:nvSpPr>
          <p:spPr>
            <a:xfrm>
              <a:off x="3868846" y="3850346"/>
              <a:ext cx="1761893" cy="501805"/>
            </a:xfrm>
            <a:prstGeom prst="roundRect">
              <a:avLst/>
            </a:prstGeom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IE" noProof="1">
                  <a:solidFill>
                    <a:schemeClr val="accent5"/>
                  </a:solidFill>
                </a:rPr>
                <a:t>HWDP</a:t>
              </a:r>
            </a:p>
          </p:txBody>
        </p: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BE7BE618-0E11-8A12-4395-20A971711CE9}"/>
              </a:ext>
            </a:extLst>
          </p:cNvPr>
          <p:cNvGrpSpPr/>
          <p:nvPr/>
        </p:nvGrpSpPr>
        <p:grpSpPr>
          <a:xfrm>
            <a:off x="465872" y="1614489"/>
            <a:ext cx="2732049" cy="5053088"/>
            <a:chOff x="465872" y="1614489"/>
            <a:chExt cx="2732049" cy="5053088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C3EA13C2-952C-A74C-04E2-0EEC64D40398}"/>
                </a:ext>
              </a:extLst>
            </p:cNvPr>
            <p:cNvSpPr/>
            <p:nvPr/>
          </p:nvSpPr>
          <p:spPr>
            <a:xfrm>
              <a:off x="465872" y="1614489"/>
              <a:ext cx="2732049" cy="5053088"/>
            </a:xfrm>
            <a:prstGeom prst="round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t"/>
            <a:lstStyle/>
            <a:p>
              <a:pPr algn="ctr"/>
              <a:r>
                <a:rPr lang="en-IE" noProof="1"/>
                <a:t>PlantCSP</a:t>
              </a:r>
            </a:p>
          </p:txBody>
        </p:sp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D5EDF7B1-5FB2-42DC-8966-F8934614CA3E}"/>
                </a:ext>
              </a:extLst>
            </p:cNvPr>
            <p:cNvSpPr/>
            <p:nvPr/>
          </p:nvSpPr>
          <p:spPr>
            <a:xfrm>
              <a:off x="950952" y="3253059"/>
              <a:ext cx="1761893" cy="501805"/>
            </a:xfrm>
            <a:prstGeom prst="roundRect">
              <a:avLst/>
            </a:prstGeom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IE" noProof="1">
                  <a:solidFill>
                    <a:schemeClr val="accent5"/>
                  </a:solidFill>
                </a:rPr>
                <a:t>Weather</a:t>
              </a:r>
            </a:p>
          </p:txBody>
        </p:sp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AC6DDA8C-B32E-4A11-6242-162DA4F0D4A1}"/>
                </a:ext>
              </a:extLst>
            </p:cNvPr>
            <p:cNvSpPr/>
            <p:nvPr/>
          </p:nvSpPr>
          <p:spPr>
            <a:xfrm>
              <a:off x="950951" y="4390278"/>
              <a:ext cx="1761893" cy="501805"/>
            </a:xfrm>
            <a:prstGeom prst="roundRect">
              <a:avLst/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IE" noProof="1">
                  <a:solidFill>
                    <a:schemeClr val="accent2"/>
                  </a:solidFill>
                </a:rPr>
                <a:t>Receiver</a:t>
              </a:r>
            </a:p>
          </p:txBody>
        </p:sp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40528BCC-1630-29A9-07F0-C23F9AD6281C}"/>
                </a:ext>
              </a:extLst>
            </p:cNvPr>
            <p:cNvSpPr/>
            <p:nvPr/>
          </p:nvSpPr>
          <p:spPr>
            <a:xfrm>
              <a:off x="950950" y="4949067"/>
              <a:ext cx="1761894" cy="501805"/>
            </a:xfrm>
            <a:prstGeom prst="roundRect">
              <a:avLst/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IE" noProof="1">
                  <a:solidFill>
                    <a:schemeClr val="accent2"/>
                  </a:solidFill>
                </a:rPr>
                <a:t>Storage</a:t>
              </a:r>
            </a:p>
          </p:txBody>
        </p:sp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0D05ECB8-196C-721C-99B5-6BC4BFE6F586}"/>
                </a:ext>
              </a:extLst>
            </p:cNvPr>
            <p:cNvSpPr/>
            <p:nvPr/>
          </p:nvSpPr>
          <p:spPr>
            <a:xfrm>
              <a:off x="950950" y="5515538"/>
              <a:ext cx="1761894" cy="501805"/>
            </a:xfrm>
            <a:prstGeom prst="roundRect">
              <a:avLst/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IE" noProof="1">
                  <a:solidFill>
                    <a:schemeClr val="accent2"/>
                  </a:solidFill>
                </a:rPr>
                <a:t>PowerBlock</a:t>
              </a:r>
            </a:p>
          </p:txBody>
        </p:sp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65B93AE6-6057-4A02-754E-7423EC2A8D08}"/>
                </a:ext>
              </a:extLst>
            </p:cNvPr>
            <p:cNvSpPr/>
            <p:nvPr/>
          </p:nvSpPr>
          <p:spPr>
            <a:xfrm>
              <a:off x="950951" y="3831489"/>
              <a:ext cx="1761893" cy="501805"/>
            </a:xfrm>
            <a:prstGeom prst="roundRect">
              <a:avLst/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IE" noProof="1">
                  <a:solidFill>
                    <a:schemeClr val="accent2"/>
                  </a:solidFill>
                </a:rPr>
                <a:t>OpticalSystem</a:t>
              </a:r>
            </a:p>
          </p:txBody>
        </p:sp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3DF61A14-E8AD-F12A-F9D0-3B35656B0E8E}"/>
                </a:ext>
              </a:extLst>
            </p:cNvPr>
            <p:cNvSpPr/>
            <p:nvPr/>
          </p:nvSpPr>
          <p:spPr>
            <a:xfrm>
              <a:off x="950950" y="6094183"/>
              <a:ext cx="1761894" cy="501805"/>
            </a:xfrm>
            <a:prstGeom prst="roundRect">
              <a:avLst/>
            </a:prstGeom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IE" noProof="1">
                  <a:solidFill>
                    <a:schemeClr val="accent5"/>
                  </a:solidFill>
                </a:rPr>
                <a:t>Market</a:t>
              </a:r>
            </a:p>
          </p:txBody>
        </p:sp>
        <p:sp>
          <p:nvSpPr>
            <p:cNvPr id="14" name="Rectangle: Rounded Corners 13">
              <a:extLst>
                <a:ext uri="{FF2B5EF4-FFF2-40B4-BE49-F238E27FC236}">
                  <a16:creationId xmlns:a16="http://schemas.microsoft.com/office/drawing/2014/main" id="{FE4A9761-134A-6C68-5439-4A991A9047B5}"/>
                </a:ext>
              </a:extLst>
            </p:cNvPr>
            <p:cNvSpPr/>
            <p:nvPr/>
          </p:nvSpPr>
          <p:spPr>
            <a:xfrm>
              <a:off x="950949" y="2109645"/>
              <a:ext cx="1761893" cy="501805"/>
            </a:xfrm>
            <a:prstGeom prst="round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IE" noProof="1">
                  <a:solidFill>
                    <a:schemeClr val="accent1"/>
                  </a:solidFill>
                </a:rPr>
                <a:t>Settings</a:t>
              </a:r>
            </a:p>
          </p:txBody>
        </p:sp>
        <p:sp>
          <p:nvSpPr>
            <p:cNvPr id="28" name="Rectangle: Rounded Corners 27">
              <a:extLst>
                <a:ext uri="{FF2B5EF4-FFF2-40B4-BE49-F238E27FC236}">
                  <a16:creationId xmlns:a16="http://schemas.microsoft.com/office/drawing/2014/main" id="{C4E967BD-1DDD-24A8-54D2-9E26F36FF367}"/>
                </a:ext>
              </a:extLst>
            </p:cNvPr>
            <p:cNvSpPr/>
            <p:nvPr/>
          </p:nvSpPr>
          <p:spPr>
            <a:xfrm>
              <a:off x="950949" y="2676116"/>
              <a:ext cx="1761893" cy="501805"/>
            </a:xfrm>
            <a:prstGeom prst="round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IE" noProof="1">
                  <a:solidFill>
                    <a:schemeClr val="accent1"/>
                  </a:solidFill>
                </a:rPr>
                <a:t>Location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1688664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7CB1E1-A632-59F3-9DA2-B3462351D8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06BF8E8E-F8E4-301B-0FE3-CEBBA9126003}"/>
              </a:ext>
            </a:extLst>
          </p:cNvPr>
          <p:cNvSpPr/>
          <p:nvPr/>
        </p:nvSpPr>
        <p:spPr>
          <a:xfrm>
            <a:off x="3466509" y="1613777"/>
            <a:ext cx="7964449" cy="5053088"/>
          </a:xfrm>
          <a:prstGeom prst="roundRect">
            <a:avLst>
              <a:gd name="adj" fmla="val 4151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IE" noProof="1"/>
              <a:t>Process</a:t>
            </a:r>
          </a:p>
        </p:txBody>
      </p:sp>
      <p:sp>
        <p:nvSpPr>
          <p:cNvPr id="58" name="Rectangle: Rounded Corners 57">
            <a:extLst>
              <a:ext uri="{FF2B5EF4-FFF2-40B4-BE49-F238E27FC236}">
                <a16:creationId xmlns:a16="http://schemas.microsoft.com/office/drawing/2014/main" id="{206CEBD7-8930-BE17-C414-BACF8E421868}"/>
              </a:ext>
            </a:extLst>
          </p:cNvPr>
          <p:cNvSpPr/>
          <p:nvPr/>
        </p:nvSpPr>
        <p:spPr>
          <a:xfrm>
            <a:off x="3682998" y="2345744"/>
            <a:ext cx="5422500" cy="3975100"/>
          </a:xfrm>
          <a:prstGeom prst="roundRect">
            <a:avLst>
              <a:gd name="adj" fmla="val 6443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IE" noProof="1">
                <a:solidFill>
                  <a:schemeClr val="accent1"/>
                </a:solidFill>
              </a:rPr>
              <a:t>Parametric Analysis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BBF4F35-0FA7-C8AB-FBB2-67BEC10843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noProof="1"/>
              <a:t>module architectures example: csp</a:t>
            </a:r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7FF7DC96-F725-1F23-9F0D-5952DE65AB7C}"/>
              </a:ext>
            </a:extLst>
          </p:cNvPr>
          <p:cNvGrpSpPr/>
          <p:nvPr/>
        </p:nvGrpSpPr>
        <p:grpSpPr>
          <a:xfrm>
            <a:off x="465872" y="1614489"/>
            <a:ext cx="2732049" cy="5053088"/>
            <a:chOff x="465872" y="1614489"/>
            <a:chExt cx="2732049" cy="5053088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FF8E6E1B-F22D-DD2E-A474-6152813FF519}"/>
                </a:ext>
              </a:extLst>
            </p:cNvPr>
            <p:cNvSpPr/>
            <p:nvPr/>
          </p:nvSpPr>
          <p:spPr>
            <a:xfrm>
              <a:off x="465872" y="1614489"/>
              <a:ext cx="2732049" cy="5053088"/>
            </a:xfrm>
            <a:prstGeom prst="round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t"/>
            <a:lstStyle/>
            <a:p>
              <a:pPr algn="ctr"/>
              <a:r>
                <a:rPr lang="en-IE" noProof="1"/>
                <a:t>PlantCSP</a:t>
              </a:r>
            </a:p>
          </p:txBody>
        </p:sp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3C8DD465-014F-99E6-10DF-6D94025E8E0F}"/>
                </a:ext>
              </a:extLst>
            </p:cNvPr>
            <p:cNvSpPr/>
            <p:nvPr/>
          </p:nvSpPr>
          <p:spPr>
            <a:xfrm>
              <a:off x="950952" y="3253059"/>
              <a:ext cx="1761893" cy="501805"/>
            </a:xfrm>
            <a:prstGeom prst="roundRect">
              <a:avLst/>
            </a:prstGeom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IE" noProof="1">
                  <a:solidFill>
                    <a:schemeClr val="accent5"/>
                  </a:solidFill>
                </a:rPr>
                <a:t>Weather</a:t>
              </a:r>
            </a:p>
          </p:txBody>
        </p:sp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008562DD-62A5-55AF-8001-03F3FEA9ACF6}"/>
                </a:ext>
              </a:extLst>
            </p:cNvPr>
            <p:cNvSpPr/>
            <p:nvPr/>
          </p:nvSpPr>
          <p:spPr>
            <a:xfrm>
              <a:off x="950951" y="4390278"/>
              <a:ext cx="1761893" cy="501805"/>
            </a:xfrm>
            <a:prstGeom prst="roundRect">
              <a:avLst/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IE" noProof="1">
                  <a:solidFill>
                    <a:schemeClr val="accent2"/>
                  </a:solidFill>
                </a:rPr>
                <a:t>Receiver</a:t>
              </a:r>
            </a:p>
          </p:txBody>
        </p:sp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2DB86097-B741-0779-DF32-4A2640F7A0E1}"/>
                </a:ext>
              </a:extLst>
            </p:cNvPr>
            <p:cNvSpPr/>
            <p:nvPr/>
          </p:nvSpPr>
          <p:spPr>
            <a:xfrm>
              <a:off x="950950" y="4949067"/>
              <a:ext cx="1761894" cy="501805"/>
            </a:xfrm>
            <a:prstGeom prst="roundRect">
              <a:avLst/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IE" noProof="1">
                  <a:solidFill>
                    <a:schemeClr val="accent2"/>
                  </a:solidFill>
                </a:rPr>
                <a:t>Storage</a:t>
              </a:r>
            </a:p>
          </p:txBody>
        </p:sp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F63ED1C3-1744-9C8A-97F9-10CD852BE587}"/>
                </a:ext>
              </a:extLst>
            </p:cNvPr>
            <p:cNvSpPr/>
            <p:nvPr/>
          </p:nvSpPr>
          <p:spPr>
            <a:xfrm>
              <a:off x="950950" y="5515538"/>
              <a:ext cx="1761894" cy="501805"/>
            </a:xfrm>
            <a:prstGeom prst="roundRect">
              <a:avLst/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IE" noProof="1">
                  <a:solidFill>
                    <a:schemeClr val="accent2"/>
                  </a:solidFill>
                </a:rPr>
                <a:t>PowerBlock</a:t>
              </a:r>
            </a:p>
          </p:txBody>
        </p:sp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B4BCC67B-ECAC-B149-3362-4E00F96E94AF}"/>
                </a:ext>
              </a:extLst>
            </p:cNvPr>
            <p:cNvSpPr/>
            <p:nvPr/>
          </p:nvSpPr>
          <p:spPr>
            <a:xfrm>
              <a:off x="950951" y="3831489"/>
              <a:ext cx="1761893" cy="501805"/>
            </a:xfrm>
            <a:prstGeom prst="roundRect">
              <a:avLst/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IE" noProof="1">
                  <a:solidFill>
                    <a:schemeClr val="accent2"/>
                  </a:solidFill>
                </a:rPr>
                <a:t>OpticalSystem</a:t>
              </a:r>
            </a:p>
          </p:txBody>
        </p:sp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8801F8D7-B6D4-6BEB-6762-A4DB5E57D13D}"/>
                </a:ext>
              </a:extLst>
            </p:cNvPr>
            <p:cNvSpPr/>
            <p:nvPr/>
          </p:nvSpPr>
          <p:spPr>
            <a:xfrm>
              <a:off x="950950" y="6094183"/>
              <a:ext cx="1761894" cy="501805"/>
            </a:xfrm>
            <a:prstGeom prst="roundRect">
              <a:avLst/>
            </a:prstGeom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IE" noProof="1">
                  <a:solidFill>
                    <a:schemeClr val="accent5"/>
                  </a:solidFill>
                </a:rPr>
                <a:t>Market</a:t>
              </a:r>
            </a:p>
          </p:txBody>
        </p:sp>
        <p:sp>
          <p:nvSpPr>
            <p:cNvPr id="14" name="Rectangle: Rounded Corners 13">
              <a:extLst>
                <a:ext uri="{FF2B5EF4-FFF2-40B4-BE49-F238E27FC236}">
                  <a16:creationId xmlns:a16="http://schemas.microsoft.com/office/drawing/2014/main" id="{67DBC6AF-4066-B7FC-FBE1-EBB13FDF5D5F}"/>
                </a:ext>
              </a:extLst>
            </p:cNvPr>
            <p:cNvSpPr/>
            <p:nvPr/>
          </p:nvSpPr>
          <p:spPr>
            <a:xfrm>
              <a:off x="950949" y="2109645"/>
              <a:ext cx="1761893" cy="501805"/>
            </a:xfrm>
            <a:prstGeom prst="round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IE" noProof="1">
                  <a:solidFill>
                    <a:schemeClr val="accent1"/>
                  </a:solidFill>
                </a:rPr>
                <a:t>Settings</a:t>
              </a:r>
            </a:p>
          </p:txBody>
        </p:sp>
        <p:sp>
          <p:nvSpPr>
            <p:cNvPr id="28" name="Rectangle: Rounded Corners 27">
              <a:extLst>
                <a:ext uri="{FF2B5EF4-FFF2-40B4-BE49-F238E27FC236}">
                  <a16:creationId xmlns:a16="http://schemas.microsoft.com/office/drawing/2014/main" id="{4462592B-FD93-14EF-5593-CECF03D249EC}"/>
                </a:ext>
              </a:extLst>
            </p:cNvPr>
            <p:cNvSpPr/>
            <p:nvPr/>
          </p:nvSpPr>
          <p:spPr>
            <a:xfrm>
              <a:off x="950949" y="2676116"/>
              <a:ext cx="1761893" cy="501805"/>
            </a:xfrm>
            <a:prstGeom prst="round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IE" noProof="1">
                  <a:solidFill>
                    <a:schemeClr val="accent1"/>
                  </a:solidFill>
                </a:rPr>
                <a:t>Location</a:t>
              </a:r>
            </a:p>
          </p:txBody>
        </p:sp>
      </p:grpSp>
      <p:sp>
        <p:nvSpPr>
          <p:cNvPr id="48" name="Rectangle: Rounded Corners 47">
            <a:extLst>
              <a:ext uri="{FF2B5EF4-FFF2-40B4-BE49-F238E27FC236}">
                <a16:creationId xmlns:a16="http://schemas.microsoft.com/office/drawing/2014/main" id="{6DB827C8-F43F-C32C-E9EA-A5B4CC109036}"/>
              </a:ext>
            </a:extLst>
          </p:cNvPr>
          <p:cNvSpPr/>
          <p:nvPr/>
        </p:nvSpPr>
        <p:spPr>
          <a:xfrm>
            <a:off x="4080630" y="2917120"/>
            <a:ext cx="3491200" cy="3257548"/>
          </a:xfrm>
          <a:prstGeom prst="roundRect">
            <a:avLst>
              <a:gd name="adj" fmla="val 4815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IE" noProof="1">
                <a:solidFill>
                  <a:schemeClr val="accent1"/>
                </a:solidFill>
              </a:rPr>
              <a:t>Annual Performance (TMY)</a:t>
            </a:r>
          </a:p>
        </p:txBody>
      </p:sp>
      <p:sp>
        <p:nvSpPr>
          <p:cNvPr id="53" name="Rectangle: Rounded Corners 52">
            <a:extLst>
              <a:ext uri="{FF2B5EF4-FFF2-40B4-BE49-F238E27FC236}">
                <a16:creationId xmlns:a16="http://schemas.microsoft.com/office/drawing/2014/main" id="{BFA5D86E-0B2D-8DDC-4479-90A6DB0E3BB0}"/>
              </a:ext>
            </a:extLst>
          </p:cNvPr>
          <p:cNvSpPr/>
          <p:nvPr/>
        </p:nvSpPr>
        <p:spPr>
          <a:xfrm>
            <a:off x="9295408" y="2390816"/>
            <a:ext cx="1945640" cy="3783852"/>
          </a:xfrm>
          <a:prstGeom prst="roundRect">
            <a:avLst>
              <a:gd name="adj" fmla="val 10401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IE" noProof="1">
                <a:solidFill>
                  <a:schemeClr val="accent1"/>
                </a:solidFill>
              </a:rPr>
              <a:t>Stochastic Analysis</a:t>
            </a:r>
          </a:p>
          <a:p>
            <a:pPr algn="ctr"/>
            <a:r>
              <a:rPr lang="en-IE" noProof="1">
                <a:solidFill>
                  <a:schemeClr val="accent1"/>
                </a:solidFill>
              </a:rPr>
              <a:t>(MonteCarlo Simulation)</a:t>
            </a:r>
          </a:p>
        </p:txBody>
      </p:sp>
      <p:grpSp>
        <p:nvGrpSpPr>
          <p:cNvPr id="66" name="Group 65">
            <a:extLst>
              <a:ext uri="{FF2B5EF4-FFF2-40B4-BE49-F238E27FC236}">
                <a16:creationId xmlns:a16="http://schemas.microsoft.com/office/drawing/2014/main" id="{9CE139F1-EEE4-3562-DB89-72530C148DC4}"/>
              </a:ext>
            </a:extLst>
          </p:cNvPr>
          <p:cNvGrpSpPr/>
          <p:nvPr/>
        </p:nvGrpSpPr>
        <p:grpSpPr>
          <a:xfrm>
            <a:off x="4215254" y="3641532"/>
            <a:ext cx="1880746" cy="2422152"/>
            <a:chOff x="8483600" y="3423723"/>
            <a:chExt cx="1727200" cy="2614341"/>
          </a:xfrm>
        </p:grpSpPr>
        <p:sp>
          <p:nvSpPr>
            <p:cNvPr id="59" name="Rectangle: Rounded Corners 58">
              <a:extLst>
                <a:ext uri="{FF2B5EF4-FFF2-40B4-BE49-F238E27FC236}">
                  <a16:creationId xmlns:a16="http://schemas.microsoft.com/office/drawing/2014/main" id="{12A86FA4-09B7-B492-60DB-C2483D88D486}"/>
                </a:ext>
              </a:extLst>
            </p:cNvPr>
            <p:cNvSpPr/>
            <p:nvPr/>
          </p:nvSpPr>
          <p:spPr>
            <a:xfrm>
              <a:off x="8483600" y="3423723"/>
              <a:ext cx="1727200" cy="2614341"/>
            </a:xfrm>
            <a:prstGeom prst="roundRect">
              <a:avLst>
                <a:gd name="adj" fmla="val 5466"/>
              </a:avLst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t"/>
            <a:lstStyle/>
            <a:p>
              <a:pPr algn="ctr"/>
              <a:r>
                <a:rPr lang="en-IE" noProof="1">
                  <a:solidFill>
                    <a:schemeClr val="accent1"/>
                  </a:solidFill>
                </a:rPr>
                <a:t>Simulation</a:t>
              </a:r>
            </a:p>
          </p:txBody>
        </p:sp>
        <p:sp>
          <p:nvSpPr>
            <p:cNvPr id="54" name="Rectangle: Rounded Corners 53">
              <a:extLst>
                <a:ext uri="{FF2B5EF4-FFF2-40B4-BE49-F238E27FC236}">
                  <a16:creationId xmlns:a16="http://schemas.microsoft.com/office/drawing/2014/main" id="{DC341C90-0A8B-8056-C6ED-81FB099190C0}"/>
                </a:ext>
              </a:extLst>
            </p:cNvPr>
            <p:cNvSpPr/>
            <p:nvPr/>
          </p:nvSpPr>
          <p:spPr>
            <a:xfrm>
              <a:off x="8610600" y="3874627"/>
              <a:ext cx="1473200" cy="416528"/>
            </a:xfrm>
            <a:prstGeom prst="round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t"/>
            <a:lstStyle/>
            <a:p>
              <a:pPr algn="ctr"/>
              <a:r>
                <a:rPr lang="en-IE" b="0" noProof="1">
                  <a:solidFill>
                    <a:schemeClr val="accent1"/>
                  </a:solidFill>
                </a:rPr>
                <a:t>mcrt</a:t>
              </a:r>
            </a:p>
            <a:p>
              <a:pPr algn="ctr"/>
              <a:endParaRPr lang="en-IE" noProof="1">
                <a:solidFill>
                  <a:schemeClr val="accent1"/>
                </a:solidFill>
              </a:endParaRPr>
            </a:p>
          </p:txBody>
        </p:sp>
        <p:sp>
          <p:nvSpPr>
            <p:cNvPr id="55" name="Rectangle: Rounded Corners 54">
              <a:extLst>
                <a:ext uri="{FF2B5EF4-FFF2-40B4-BE49-F238E27FC236}">
                  <a16:creationId xmlns:a16="http://schemas.microsoft.com/office/drawing/2014/main" id="{71E4A58F-EE30-3A81-7D8B-96FE8C4303DC}"/>
                </a:ext>
              </a:extLst>
            </p:cNvPr>
            <p:cNvSpPr/>
            <p:nvPr/>
          </p:nvSpPr>
          <p:spPr>
            <a:xfrm>
              <a:off x="8610600" y="4396010"/>
              <a:ext cx="1473200" cy="416528"/>
            </a:xfrm>
            <a:prstGeom prst="round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t"/>
            <a:lstStyle/>
            <a:p>
              <a:pPr algn="ctr"/>
              <a:r>
                <a:rPr lang="en-IE" b="0" noProof="1">
                  <a:solidFill>
                    <a:schemeClr val="accent1"/>
                  </a:solidFill>
                </a:rPr>
                <a:t>thermal</a:t>
              </a:r>
            </a:p>
            <a:p>
              <a:pPr algn="ctr"/>
              <a:endParaRPr lang="en-IE" noProof="1">
                <a:solidFill>
                  <a:schemeClr val="accent1"/>
                </a:solidFill>
              </a:endParaRPr>
            </a:p>
          </p:txBody>
        </p:sp>
        <p:sp>
          <p:nvSpPr>
            <p:cNvPr id="56" name="Rectangle: Rounded Corners 55">
              <a:extLst>
                <a:ext uri="{FF2B5EF4-FFF2-40B4-BE49-F238E27FC236}">
                  <a16:creationId xmlns:a16="http://schemas.microsoft.com/office/drawing/2014/main" id="{506B08B3-D428-A9ED-459A-C776E469C60D}"/>
                </a:ext>
              </a:extLst>
            </p:cNvPr>
            <p:cNvSpPr/>
            <p:nvPr/>
          </p:nvSpPr>
          <p:spPr>
            <a:xfrm>
              <a:off x="8610600" y="4926785"/>
              <a:ext cx="1473200" cy="416528"/>
            </a:xfrm>
            <a:prstGeom prst="round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t"/>
            <a:lstStyle/>
            <a:p>
              <a:pPr algn="ctr"/>
              <a:r>
                <a:rPr lang="en-IE" b="0" noProof="1">
                  <a:solidFill>
                    <a:schemeClr val="accent1"/>
                  </a:solidFill>
                </a:rPr>
                <a:t>sco2_cycle</a:t>
              </a:r>
            </a:p>
            <a:p>
              <a:pPr algn="ctr"/>
              <a:endParaRPr lang="en-IE" noProof="1">
                <a:solidFill>
                  <a:schemeClr val="accent1"/>
                </a:solidFill>
              </a:endParaRPr>
            </a:p>
          </p:txBody>
        </p:sp>
        <p:sp>
          <p:nvSpPr>
            <p:cNvPr id="57" name="Rectangle: Rounded Corners 56">
              <a:extLst>
                <a:ext uri="{FF2B5EF4-FFF2-40B4-BE49-F238E27FC236}">
                  <a16:creationId xmlns:a16="http://schemas.microsoft.com/office/drawing/2014/main" id="{6A03788A-CC45-AEF0-19D5-4D1F6B4BBAB9}"/>
                </a:ext>
              </a:extLst>
            </p:cNvPr>
            <p:cNvSpPr/>
            <p:nvPr/>
          </p:nvSpPr>
          <p:spPr>
            <a:xfrm>
              <a:off x="8610600" y="5452257"/>
              <a:ext cx="1473200" cy="416528"/>
            </a:xfrm>
            <a:prstGeom prst="round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t"/>
            <a:lstStyle/>
            <a:p>
              <a:pPr algn="ctr"/>
              <a:r>
                <a:rPr lang="en-IE" sz="1400" b="0" noProof="1">
                  <a:solidFill>
                    <a:schemeClr val="accent1"/>
                  </a:solidFill>
                </a:rPr>
                <a:t>dispatch_optim</a:t>
              </a:r>
              <a:endParaRPr lang="en-IE" b="0" noProof="1">
                <a:solidFill>
                  <a:schemeClr val="accent1"/>
                </a:solidFill>
              </a:endParaRPr>
            </a:p>
            <a:p>
              <a:pPr algn="ctr"/>
              <a:endParaRPr lang="en-IE" noProof="1">
                <a:solidFill>
                  <a:schemeClr val="accent1"/>
                </a:solidFill>
              </a:endParaRPr>
            </a:p>
          </p:txBody>
        </p:sp>
      </p:grpSp>
      <p:sp>
        <p:nvSpPr>
          <p:cNvPr id="67" name="Rectangle: Rounded Corners 66">
            <a:extLst>
              <a:ext uri="{FF2B5EF4-FFF2-40B4-BE49-F238E27FC236}">
                <a16:creationId xmlns:a16="http://schemas.microsoft.com/office/drawing/2014/main" id="{BDB9129F-40B2-2489-E563-A5EAD3DF9611}"/>
              </a:ext>
            </a:extLst>
          </p:cNvPr>
          <p:cNvSpPr/>
          <p:nvPr/>
        </p:nvSpPr>
        <p:spPr>
          <a:xfrm>
            <a:off x="7662560" y="3390630"/>
            <a:ext cx="1364260" cy="501805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E" sz="1200" noProof="1">
                <a:solidFill>
                  <a:schemeClr val="accent1"/>
                </a:solidFill>
              </a:rPr>
              <a:t>Postprocessing</a:t>
            </a:r>
          </a:p>
          <a:p>
            <a:pPr algn="ctr"/>
            <a:r>
              <a:rPr lang="en-IE" sz="1200" noProof="1">
                <a:solidFill>
                  <a:schemeClr val="accent1"/>
                </a:solidFill>
              </a:rPr>
              <a:t>(Analysis)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2AC010FC-41F3-BCB8-4467-8F72A0C01F69}"/>
              </a:ext>
            </a:extLst>
          </p:cNvPr>
          <p:cNvSpPr/>
          <p:nvPr/>
        </p:nvSpPr>
        <p:spPr>
          <a:xfrm>
            <a:off x="6180704" y="3786392"/>
            <a:ext cx="1364260" cy="501805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E" sz="1200" noProof="1">
                <a:solidFill>
                  <a:schemeClr val="accent1"/>
                </a:solidFill>
              </a:rPr>
              <a:t>postproc technical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C17D7010-4FD3-CAC2-5DDE-E8030BA27C27}"/>
              </a:ext>
            </a:extLst>
          </p:cNvPr>
          <p:cNvSpPr/>
          <p:nvPr/>
        </p:nvSpPr>
        <p:spPr>
          <a:xfrm>
            <a:off x="6159233" y="4390277"/>
            <a:ext cx="1364260" cy="501805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E" sz="1200" noProof="1">
                <a:solidFill>
                  <a:schemeClr val="accent1"/>
                </a:solidFill>
              </a:rPr>
              <a:t>postproc economics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FA9D89EE-A232-03DC-362D-71184B94D987}"/>
              </a:ext>
            </a:extLst>
          </p:cNvPr>
          <p:cNvSpPr/>
          <p:nvPr/>
        </p:nvSpPr>
        <p:spPr>
          <a:xfrm>
            <a:off x="6147620" y="5012824"/>
            <a:ext cx="1364260" cy="501805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E" sz="1200" noProof="1">
                <a:solidFill>
                  <a:schemeClr val="accent1"/>
                </a:solidFill>
              </a:rPr>
              <a:t>postproc financial</a:t>
            </a:r>
          </a:p>
        </p:txBody>
      </p:sp>
    </p:spTree>
    <p:extLst>
      <p:ext uri="{BB962C8B-B14F-4D97-AF65-F5344CB8AC3E}">
        <p14:creationId xmlns:p14="http://schemas.microsoft.com/office/powerpoint/2010/main" val="22701074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EB6BFF-3B7A-9FA4-10E4-152DDA2DDD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8AD5BB86-9EA2-A882-A0DC-9295B6BB7CEB}"/>
              </a:ext>
            </a:extLst>
          </p:cNvPr>
          <p:cNvSpPr/>
          <p:nvPr/>
        </p:nvSpPr>
        <p:spPr>
          <a:xfrm>
            <a:off x="1555945" y="1055901"/>
            <a:ext cx="6938534" cy="963330"/>
          </a:xfrm>
          <a:prstGeom prst="roundRect">
            <a:avLst>
              <a:gd name="adj" fmla="val 6212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IE" noProof="1">
                <a:solidFill>
                  <a:schemeClr val="accent1"/>
                </a:solidFill>
              </a:rPr>
              <a:t>core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1635B79B-17D8-DB66-3632-53FECC2899E8}"/>
              </a:ext>
            </a:extLst>
          </p:cNvPr>
          <p:cNvSpPr/>
          <p:nvPr/>
        </p:nvSpPr>
        <p:spPr>
          <a:xfrm>
            <a:off x="1742057" y="1426805"/>
            <a:ext cx="2087857" cy="479350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E" noProof="1">
                <a:solidFill>
                  <a:schemeClr val="accent1"/>
                </a:solidFill>
              </a:rPr>
              <a:t>Var </a:t>
            </a:r>
            <a:r>
              <a:rPr lang="en-IE" sz="1000" noProof="1">
                <a:solidFill>
                  <a:schemeClr val="accent1"/>
                </a:solidFill>
              </a:rPr>
              <a:t>(float, str)</a:t>
            </a:r>
            <a:endParaRPr lang="en-IE" noProof="1">
              <a:solidFill>
                <a:schemeClr val="accent1"/>
              </a:solidFill>
            </a:endParaRP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C9B78E06-CE99-FC3C-1175-F68691301C81}"/>
              </a:ext>
            </a:extLst>
          </p:cNvPr>
          <p:cNvSpPr/>
          <p:nvPr/>
        </p:nvSpPr>
        <p:spPr>
          <a:xfrm>
            <a:off x="4003994" y="1426805"/>
            <a:ext cx="2087857" cy="479350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E" noProof="1">
                <a:solidFill>
                  <a:schemeClr val="accent1"/>
                </a:solidFill>
              </a:rPr>
              <a:t>Array </a:t>
            </a:r>
            <a:r>
              <a:rPr lang="en-IE" sz="1000" noProof="1">
                <a:solidFill>
                  <a:schemeClr val="accent1"/>
                </a:solidFill>
              </a:rPr>
              <a:t>(np.ndarray, str)</a:t>
            </a:r>
            <a:endParaRPr lang="en-IE" noProof="1">
              <a:solidFill>
                <a:schemeClr val="accent1"/>
              </a:solidFill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1E26146B-754C-C345-9ED7-1AB0B4064D0E}"/>
              </a:ext>
            </a:extLst>
          </p:cNvPr>
          <p:cNvSpPr/>
          <p:nvPr/>
        </p:nvSpPr>
        <p:spPr>
          <a:xfrm>
            <a:off x="6232109" y="1426805"/>
            <a:ext cx="2087857" cy="479350"/>
          </a:xfrm>
          <a:prstGeom prst="roundRect">
            <a:avLst/>
          </a:prstGeom>
          <a:ln>
            <a:prstDash val="lgDash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E" noProof="1">
                <a:solidFill>
                  <a:schemeClr val="accent1"/>
                </a:solidFill>
              </a:rPr>
              <a:t>Frame </a:t>
            </a:r>
            <a:r>
              <a:rPr lang="en-IE" sz="1000" noProof="1">
                <a:solidFill>
                  <a:schemeClr val="accent1"/>
                </a:solidFill>
              </a:rPr>
              <a:t>(pd.DataFrame, str)</a:t>
            </a:r>
            <a:endParaRPr lang="en-IE" sz="1400" noProof="1">
              <a:solidFill>
                <a:schemeClr val="accent1"/>
              </a:solidFill>
            </a:endParaRP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F9AB1282-5FA5-1738-65F7-3FE6A8165E61}"/>
              </a:ext>
            </a:extLst>
          </p:cNvPr>
          <p:cNvGrpSpPr/>
          <p:nvPr/>
        </p:nvGrpSpPr>
        <p:grpSpPr>
          <a:xfrm>
            <a:off x="1553584" y="2159404"/>
            <a:ext cx="6938534" cy="963330"/>
            <a:chOff x="1561744" y="2130515"/>
            <a:chExt cx="6938534" cy="963330"/>
          </a:xfrm>
        </p:grpSpPr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CDD516AD-A453-D6F4-FF5E-CCD2DA28A785}"/>
                </a:ext>
              </a:extLst>
            </p:cNvPr>
            <p:cNvSpPr/>
            <p:nvPr/>
          </p:nvSpPr>
          <p:spPr>
            <a:xfrm>
              <a:off x="3186532" y="2533987"/>
              <a:ext cx="1128739" cy="402198"/>
            </a:xfrm>
            <a:prstGeom prst="roundRect">
              <a:avLst/>
            </a:prstGeom>
            <a:ln>
              <a:solidFill>
                <a:schemeClr val="accent3"/>
              </a:solidFill>
              <a:prstDash val="dash"/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IE" noProof="1">
                  <a:solidFill>
                    <a:schemeClr val="accent3"/>
                  </a:solidFill>
                </a:rPr>
                <a:t>htc</a:t>
              </a:r>
            </a:p>
          </p:txBody>
        </p:sp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5024CA8D-09BA-4DC5-EC2E-4B4B1F199AA8}"/>
                </a:ext>
              </a:extLst>
            </p:cNvPr>
            <p:cNvSpPr/>
            <p:nvPr/>
          </p:nvSpPr>
          <p:spPr>
            <a:xfrm>
              <a:off x="4625175" y="2533987"/>
              <a:ext cx="1128739" cy="402198"/>
            </a:xfrm>
            <a:prstGeom prst="roundRect">
              <a:avLst/>
            </a:prstGeom>
            <a:ln>
              <a:solidFill>
                <a:schemeClr val="accent3"/>
              </a:solidFill>
              <a:prstDash val="dash"/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IE" noProof="1">
                  <a:solidFill>
                    <a:schemeClr val="accent3"/>
                  </a:solidFill>
                </a:rPr>
                <a:t>solar</a:t>
              </a:r>
            </a:p>
          </p:txBody>
        </p:sp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8B872FBA-CD7B-92DC-5BCE-269AB7734F07}"/>
                </a:ext>
              </a:extLst>
            </p:cNvPr>
            <p:cNvSpPr/>
            <p:nvPr/>
          </p:nvSpPr>
          <p:spPr>
            <a:xfrm>
              <a:off x="1788940" y="2544139"/>
              <a:ext cx="1128739" cy="402198"/>
            </a:xfrm>
            <a:prstGeom prst="roundRect">
              <a:avLst/>
            </a:prstGeom>
            <a:ln>
              <a:solidFill>
                <a:schemeClr val="accent3"/>
              </a:solidFill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IE" noProof="1">
                  <a:solidFill>
                    <a:schemeClr val="accent3"/>
                  </a:solidFill>
                </a:rPr>
                <a:t>props</a:t>
              </a:r>
            </a:p>
          </p:txBody>
        </p:sp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9EB7DE0C-0FD7-E80F-9D94-F3AE0363B77C}"/>
                </a:ext>
              </a:extLst>
            </p:cNvPr>
            <p:cNvSpPr/>
            <p:nvPr/>
          </p:nvSpPr>
          <p:spPr>
            <a:xfrm>
              <a:off x="6063818" y="2533987"/>
              <a:ext cx="1128739" cy="402198"/>
            </a:xfrm>
            <a:prstGeom prst="roundRect">
              <a:avLst/>
            </a:prstGeom>
            <a:ln>
              <a:solidFill>
                <a:schemeClr val="accent3"/>
              </a:solidFill>
              <a:prstDash val="dash"/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IE" noProof="1">
                  <a:solidFill>
                    <a:schemeClr val="accent3"/>
                  </a:solidFill>
                </a:rPr>
                <a:t>loc</a:t>
              </a:r>
            </a:p>
          </p:txBody>
        </p:sp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4571A80F-5F95-38F9-C27E-88F933001810}"/>
                </a:ext>
              </a:extLst>
            </p:cNvPr>
            <p:cNvSpPr/>
            <p:nvPr/>
          </p:nvSpPr>
          <p:spPr>
            <a:xfrm>
              <a:off x="1561744" y="2130515"/>
              <a:ext cx="6938534" cy="963330"/>
            </a:xfrm>
            <a:prstGeom prst="roundRect">
              <a:avLst>
                <a:gd name="adj" fmla="val 6212"/>
              </a:avLst>
            </a:prstGeom>
            <a:noFill/>
            <a:ln>
              <a:solidFill>
                <a:schemeClr val="accent3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t"/>
            <a:lstStyle/>
            <a:p>
              <a:r>
                <a:rPr lang="en-IE" noProof="1">
                  <a:solidFill>
                    <a:schemeClr val="accent3"/>
                  </a:solidFill>
                </a:rPr>
                <a:t>utils</a:t>
              </a:r>
            </a:p>
          </p:txBody>
        </p:sp>
      </p:grp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E5613ACE-EBF2-9450-76C4-1B4C63E2AA35}"/>
              </a:ext>
            </a:extLst>
          </p:cNvPr>
          <p:cNvSpPr/>
          <p:nvPr/>
        </p:nvSpPr>
        <p:spPr>
          <a:xfrm>
            <a:off x="8666359" y="866273"/>
            <a:ext cx="1700980" cy="3715558"/>
          </a:xfrm>
          <a:prstGeom prst="roundRect">
            <a:avLst>
              <a:gd name="adj" fmla="val 9731"/>
            </a:avLst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" rIns="3600" rtlCol="0" anchor="t"/>
          <a:lstStyle/>
          <a:p>
            <a:pPr algn="ctr"/>
            <a:r>
              <a:rPr lang="en-IE" sz="1600" noProof="1">
                <a:solidFill>
                  <a:schemeClr val="accent2"/>
                </a:solidFill>
              </a:rPr>
              <a:t>catalog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617FBFD8-0ABA-8A26-A75D-15E2A691D412}"/>
              </a:ext>
            </a:extLst>
          </p:cNvPr>
          <p:cNvSpPr/>
          <p:nvPr/>
        </p:nvSpPr>
        <p:spPr>
          <a:xfrm>
            <a:off x="8874513" y="1722633"/>
            <a:ext cx="1301796" cy="323508"/>
          </a:xfrm>
          <a:prstGeom prst="roundRect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E" noProof="1">
                <a:solidFill>
                  <a:schemeClr val="accent2"/>
                </a:solidFill>
              </a:rPr>
              <a:t>dwh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8DA861DE-8C9E-7A41-F399-22685ED78BC2}"/>
              </a:ext>
            </a:extLst>
          </p:cNvPr>
          <p:cNvSpPr/>
          <p:nvPr/>
        </p:nvSpPr>
        <p:spPr>
          <a:xfrm>
            <a:off x="8877978" y="2516436"/>
            <a:ext cx="1301796" cy="323508"/>
          </a:xfrm>
          <a:prstGeom prst="roundRect">
            <a:avLst/>
          </a:prstGeom>
          <a:ln>
            <a:solidFill>
              <a:schemeClr val="accent2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E" noProof="1">
                <a:solidFill>
                  <a:schemeClr val="accent2"/>
                </a:solidFill>
              </a:rPr>
              <a:t>stg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86E78440-BB03-BDFB-EE39-A637007A651E}"/>
              </a:ext>
            </a:extLst>
          </p:cNvPr>
          <p:cNvSpPr/>
          <p:nvPr/>
        </p:nvSpPr>
        <p:spPr>
          <a:xfrm>
            <a:off x="8874513" y="1332808"/>
            <a:ext cx="1301796" cy="323508"/>
          </a:xfrm>
          <a:prstGeom prst="roundRect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E" noProof="1">
                <a:solidFill>
                  <a:schemeClr val="accent2"/>
                </a:solidFill>
              </a:rPr>
              <a:t>csp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8F64DE1F-81BC-FBC5-42A4-C03EAF98180A}"/>
              </a:ext>
            </a:extLst>
          </p:cNvPr>
          <p:cNvSpPr/>
          <p:nvPr/>
        </p:nvSpPr>
        <p:spPr>
          <a:xfrm>
            <a:off x="1395663" y="288758"/>
            <a:ext cx="9225728" cy="4647036"/>
          </a:xfrm>
          <a:prstGeom prst="roundRect">
            <a:avLst>
              <a:gd name="adj" fmla="val 6781"/>
            </a:avLst>
          </a:prstGeom>
          <a:noFill/>
          <a:ln w="38100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IE" noProof="1">
                <a:solidFill>
                  <a:schemeClr val="tx1"/>
                </a:solidFill>
              </a:rPr>
              <a:t>antupy architecture (now, roughly)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71B3E5F6-B4FE-7633-5625-48353B5F120E}"/>
              </a:ext>
            </a:extLst>
          </p:cNvPr>
          <p:cNvSpPr/>
          <p:nvPr/>
        </p:nvSpPr>
        <p:spPr>
          <a:xfrm>
            <a:off x="8879572" y="2116599"/>
            <a:ext cx="1301796" cy="323508"/>
          </a:xfrm>
          <a:prstGeom prst="roundRect">
            <a:avLst/>
          </a:prstGeom>
          <a:ln>
            <a:solidFill>
              <a:schemeClr val="accent2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E" noProof="1">
                <a:solidFill>
                  <a:schemeClr val="accent2"/>
                </a:solidFill>
              </a:rPr>
              <a:t>desal</a:t>
            </a: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DB4B9BB6-2B03-C74A-B8D2-CB4A90CBCE3A}"/>
              </a:ext>
            </a:extLst>
          </p:cNvPr>
          <p:cNvGrpSpPr/>
          <p:nvPr/>
        </p:nvGrpSpPr>
        <p:grpSpPr>
          <a:xfrm>
            <a:off x="1555945" y="3227512"/>
            <a:ext cx="6938534" cy="1354319"/>
            <a:chOff x="1581287" y="3723782"/>
            <a:chExt cx="6938534" cy="963330"/>
          </a:xfrm>
        </p:grpSpPr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A941E3E5-7B8E-A89E-E4B9-ACFC1F2E25BC}"/>
                </a:ext>
              </a:extLst>
            </p:cNvPr>
            <p:cNvSpPr/>
            <p:nvPr/>
          </p:nvSpPr>
          <p:spPr>
            <a:xfrm>
              <a:off x="3246686" y="4129543"/>
              <a:ext cx="1289646" cy="416152"/>
            </a:xfrm>
            <a:prstGeom prst="roundRect">
              <a:avLst/>
            </a:prstGeom>
            <a:ln>
              <a:prstDash val="dash"/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IE" noProof="1">
                  <a:solidFill>
                    <a:schemeClr val="accent5"/>
                  </a:solidFill>
                </a:rPr>
                <a:t>Plant</a:t>
              </a:r>
            </a:p>
          </p:txBody>
        </p:sp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E600AAD6-01EB-4536-0618-FCA27F567488}"/>
                </a:ext>
              </a:extLst>
            </p:cNvPr>
            <p:cNvSpPr/>
            <p:nvPr/>
          </p:nvSpPr>
          <p:spPr>
            <a:xfrm>
              <a:off x="6550827" y="3796031"/>
              <a:ext cx="1794481" cy="860375"/>
            </a:xfrm>
            <a:prstGeom prst="roundRect">
              <a:avLst/>
            </a:prstGeom>
            <a:ln>
              <a:prstDash val="lgDash"/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tlCol="0" anchor="t" anchorCtr="0"/>
            <a:lstStyle/>
            <a:p>
              <a:pPr algn="ctr"/>
              <a:r>
                <a:rPr lang="en-IE" sz="1200" noProof="1">
                  <a:solidFill>
                    <a:schemeClr val="accent5"/>
                  </a:solidFill>
                </a:rPr>
                <a:t>TSGs</a:t>
              </a:r>
            </a:p>
          </p:txBody>
        </p:sp>
        <p:sp>
          <p:nvSpPr>
            <p:cNvPr id="15" name="Rectangle: Rounded Corners 14">
              <a:extLst>
                <a:ext uri="{FF2B5EF4-FFF2-40B4-BE49-F238E27FC236}">
                  <a16:creationId xmlns:a16="http://schemas.microsoft.com/office/drawing/2014/main" id="{2DD8CDD5-858B-E394-E6F8-0785261DB6DA}"/>
                </a:ext>
              </a:extLst>
            </p:cNvPr>
            <p:cNvSpPr/>
            <p:nvPr/>
          </p:nvSpPr>
          <p:spPr>
            <a:xfrm>
              <a:off x="1581287" y="3723782"/>
              <a:ext cx="6938534" cy="963330"/>
            </a:xfrm>
            <a:prstGeom prst="roundRect">
              <a:avLst>
                <a:gd name="adj" fmla="val 6212"/>
              </a:avLst>
            </a:prstGeom>
            <a:noFill/>
            <a:ln>
              <a:solidFill>
                <a:schemeClr val="accent5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t"/>
            <a:lstStyle/>
            <a:p>
              <a:r>
                <a:rPr lang="en-IE" noProof="1">
                  <a:solidFill>
                    <a:schemeClr val="accent5"/>
                  </a:solidFill>
                </a:rPr>
                <a:t>simulation</a:t>
              </a:r>
            </a:p>
          </p:txBody>
        </p:sp>
        <p:sp>
          <p:nvSpPr>
            <p:cNvPr id="16" name="Rectangle: Rounded Corners 15">
              <a:extLst>
                <a:ext uri="{FF2B5EF4-FFF2-40B4-BE49-F238E27FC236}">
                  <a16:creationId xmlns:a16="http://schemas.microsoft.com/office/drawing/2014/main" id="{569BD1DC-71BD-6FEB-EAD9-B5ED918C3DD3}"/>
                </a:ext>
              </a:extLst>
            </p:cNvPr>
            <p:cNvSpPr/>
            <p:nvPr/>
          </p:nvSpPr>
          <p:spPr>
            <a:xfrm>
              <a:off x="4783450" y="4132879"/>
              <a:ext cx="1559223" cy="415413"/>
            </a:xfrm>
            <a:prstGeom prst="roundRect">
              <a:avLst/>
            </a:prstGeom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IE" noProof="1">
                  <a:solidFill>
                    <a:schemeClr val="accent5"/>
                  </a:solidFill>
                </a:rPr>
                <a:t>Parametric</a:t>
              </a:r>
            </a:p>
          </p:txBody>
        </p:sp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636B3AAB-9CE1-9957-DF31-58F2778F124E}"/>
                </a:ext>
              </a:extLst>
            </p:cNvPr>
            <p:cNvSpPr/>
            <p:nvPr/>
          </p:nvSpPr>
          <p:spPr>
            <a:xfrm>
              <a:off x="1976368" y="4132982"/>
              <a:ext cx="1023200" cy="415413"/>
            </a:xfrm>
            <a:prstGeom prst="roundRect">
              <a:avLst/>
            </a:prstGeom>
            <a:ln>
              <a:prstDash val="lgDash"/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IE" noProof="1">
                  <a:solidFill>
                    <a:schemeClr val="accent5"/>
                  </a:solidFill>
                </a:rPr>
                <a:t>Model</a:t>
              </a:r>
            </a:p>
          </p:txBody>
        </p:sp>
      </p:grp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F7354F53-62DD-C51D-004C-1AEE1BC87CD3}"/>
              </a:ext>
            </a:extLst>
          </p:cNvPr>
          <p:cNvSpPr/>
          <p:nvPr/>
        </p:nvSpPr>
        <p:spPr>
          <a:xfrm>
            <a:off x="8879572" y="2920049"/>
            <a:ext cx="1301796" cy="323508"/>
          </a:xfrm>
          <a:prstGeom prst="roundRect">
            <a:avLst/>
          </a:prstGeom>
          <a:ln>
            <a:solidFill>
              <a:schemeClr val="accent2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E" noProof="1">
                <a:solidFill>
                  <a:schemeClr val="accent2"/>
                </a:solidFill>
              </a:rPr>
              <a:t>cycles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C80B8BD0-C504-112E-29E6-362D47AA58C1}"/>
              </a:ext>
            </a:extLst>
          </p:cNvPr>
          <p:cNvSpPr/>
          <p:nvPr/>
        </p:nvSpPr>
        <p:spPr>
          <a:xfrm>
            <a:off x="8874513" y="3337429"/>
            <a:ext cx="1301796" cy="323508"/>
          </a:xfrm>
          <a:prstGeom prst="roundRect">
            <a:avLst/>
          </a:prstGeom>
          <a:ln>
            <a:solidFill>
              <a:schemeClr val="accent2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E" noProof="1">
                <a:solidFill>
                  <a:schemeClr val="accent2"/>
                </a:solidFill>
              </a:rPr>
              <a:t>chem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698F1227-885D-13AA-1FF6-A5A1FA3A8B61}"/>
              </a:ext>
            </a:extLst>
          </p:cNvPr>
          <p:cNvSpPr/>
          <p:nvPr/>
        </p:nvSpPr>
        <p:spPr>
          <a:xfrm>
            <a:off x="8874513" y="3750013"/>
            <a:ext cx="1301796" cy="323508"/>
          </a:xfrm>
          <a:prstGeom prst="roundRect">
            <a:avLst/>
          </a:prstGeom>
          <a:ln>
            <a:solidFill>
              <a:schemeClr val="accent2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E" noProof="1">
                <a:solidFill>
                  <a:schemeClr val="accent2"/>
                </a:solidFill>
              </a:rPr>
              <a:t>cryo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86E8A25C-B823-0418-6721-2A4A98CF3504}"/>
              </a:ext>
            </a:extLst>
          </p:cNvPr>
          <p:cNvSpPr/>
          <p:nvPr/>
        </p:nvSpPr>
        <p:spPr>
          <a:xfrm>
            <a:off x="8889560" y="4170375"/>
            <a:ext cx="1301796" cy="323508"/>
          </a:xfrm>
          <a:prstGeom prst="roundRect">
            <a:avLst/>
          </a:prstGeom>
          <a:ln>
            <a:solidFill>
              <a:schemeClr val="accent2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E" noProof="1">
                <a:solidFill>
                  <a:schemeClr val="accent2"/>
                </a:solidFill>
              </a:rPr>
              <a:t>+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D72C649E-AA45-6272-8598-5F08DF9DA447}"/>
              </a:ext>
            </a:extLst>
          </p:cNvPr>
          <p:cNvSpPr/>
          <p:nvPr/>
        </p:nvSpPr>
        <p:spPr>
          <a:xfrm>
            <a:off x="6665345" y="3648590"/>
            <a:ext cx="692109" cy="198643"/>
          </a:xfrm>
          <a:prstGeom prst="roundRect">
            <a:avLst/>
          </a:prstGeom>
          <a:ln>
            <a:prstDash val="dash"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lIns="18000" tIns="18000" rIns="18000" bIns="18000" rtlCol="0" anchor="ctr"/>
          <a:lstStyle/>
          <a:p>
            <a:pPr algn="ctr"/>
            <a:r>
              <a:rPr lang="en-IE" sz="1000" noProof="1">
                <a:solidFill>
                  <a:schemeClr val="accent5"/>
                </a:solidFill>
              </a:rPr>
              <a:t>Weather</a:t>
            </a:r>
            <a:endParaRPr lang="en-IE" noProof="1">
              <a:solidFill>
                <a:schemeClr val="accent5"/>
              </a:solidFill>
            </a:endParaRP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21D68607-E3FD-684F-20B3-49CE57EAED5B}"/>
              </a:ext>
            </a:extLst>
          </p:cNvPr>
          <p:cNvSpPr/>
          <p:nvPr/>
        </p:nvSpPr>
        <p:spPr>
          <a:xfrm>
            <a:off x="7494675" y="3648589"/>
            <a:ext cx="692109" cy="198643"/>
          </a:xfrm>
          <a:prstGeom prst="roundRect">
            <a:avLst/>
          </a:prstGeom>
          <a:ln>
            <a:prstDash val="dash"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lIns="18000" tIns="18000" rIns="18000" bIns="18000" rtlCol="0" anchor="ctr"/>
          <a:lstStyle/>
          <a:p>
            <a:pPr algn="ctr"/>
            <a:r>
              <a:rPr lang="en-IE" sz="1000" noProof="1">
                <a:solidFill>
                  <a:schemeClr val="accent5"/>
                </a:solidFill>
              </a:rPr>
              <a:t>Market</a:t>
            </a:r>
            <a:endParaRPr lang="en-IE" noProof="1">
              <a:solidFill>
                <a:schemeClr val="accent5"/>
              </a:solidFill>
            </a:endParaRP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66F90816-86C2-772F-80FF-19578D2032DF}"/>
              </a:ext>
            </a:extLst>
          </p:cNvPr>
          <p:cNvSpPr/>
          <p:nvPr/>
        </p:nvSpPr>
        <p:spPr>
          <a:xfrm>
            <a:off x="6665345" y="3948806"/>
            <a:ext cx="692109" cy="198643"/>
          </a:xfrm>
          <a:prstGeom prst="roundRect">
            <a:avLst/>
          </a:prstGeom>
          <a:ln>
            <a:prstDash val="dash"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lIns="18000" tIns="18000" rIns="18000" bIns="18000" rtlCol="0" anchor="ctr"/>
          <a:lstStyle/>
          <a:p>
            <a:pPr algn="ctr"/>
            <a:r>
              <a:rPr lang="en-IE" sz="1000" noProof="1">
                <a:solidFill>
                  <a:schemeClr val="accent5"/>
                </a:solidFill>
              </a:rPr>
              <a:t>HWD</a:t>
            </a:r>
            <a:endParaRPr lang="en-IE" noProof="1">
              <a:solidFill>
                <a:schemeClr val="accent5"/>
              </a:solidFill>
            </a:endParaRP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8D639D98-D523-A6ED-EFAC-B25EFED0FED3}"/>
              </a:ext>
            </a:extLst>
          </p:cNvPr>
          <p:cNvSpPr/>
          <p:nvPr/>
        </p:nvSpPr>
        <p:spPr>
          <a:xfrm>
            <a:off x="7500847" y="3948806"/>
            <a:ext cx="692109" cy="198643"/>
          </a:xfrm>
          <a:prstGeom prst="roundRect">
            <a:avLst/>
          </a:prstGeom>
          <a:ln>
            <a:prstDash val="sysDot"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lIns="18000" tIns="18000" rIns="18000" bIns="18000" rtlCol="0" anchor="ctr"/>
          <a:lstStyle/>
          <a:p>
            <a:pPr algn="ctr"/>
            <a:r>
              <a:rPr lang="en-IE" sz="1000" noProof="1">
                <a:solidFill>
                  <a:schemeClr val="accent5"/>
                </a:solidFill>
              </a:rPr>
              <a:t>Loads</a:t>
            </a:r>
            <a:endParaRPr lang="en-IE" noProof="1">
              <a:solidFill>
                <a:schemeClr val="accent5"/>
              </a:solidFill>
            </a:endParaRP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4DB7CC37-3D0E-AC6F-71D1-8D84D8807A50}"/>
              </a:ext>
            </a:extLst>
          </p:cNvPr>
          <p:cNvSpPr/>
          <p:nvPr/>
        </p:nvSpPr>
        <p:spPr>
          <a:xfrm>
            <a:off x="7184397" y="4243734"/>
            <a:ext cx="476655" cy="198643"/>
          </a:xfrm>
          <a:prstGeom prst="roundRect">
            <a:avLst/>
          </a:prstGeom>
          <a:ln>
            <a:prstDash val="sysDot"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lIns="18000" tIns="18000" rIns="18000" bIns="18000" rtlCol="0" anchor="ctr"/>
          <a:lstStyle/>
          <a:p>
            <a:pPr algn="ctr"/>
            <a:r>
              <a:rPr lang="en-IE" sz="1000" noProof="1">
                <a:solidFill>
                  <a:schemeClr val="accent5"/>
                </a:solidFill>
              </a:rPr>
              <a:t>+</a:t>
            </a:r>
            <a:endParaRPr lang="en-IE" noProof="1">
              <a:solidFill>
                <a:schemeClr val="accent5"/>
              </a:solidFill>
            </a:endParaRP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7572FF06-3D93-0E80-BAAC-B4F02AA1CF01}"/>
              </a:ext>
            </a:extLst>
          </p:cNvPr>
          <p:cNvSpPr/>
          <p:nvPr/>
        </p:nvSpPr>
        <p:spPr>
          <a:xfrm>
            <a:off x="7494301" y="2570224"/>
            <a:ext cx="861874" cy="402198"/>
          </a:xfrm>
          <a:prstGeom prst="roundRect">
            <a:avLst/>
          </a:prstGeom>
          <a:ln>
            <a:solidFill>
              <a:schemeClr val="accent3"/>
            </a:solidFill>
            <a:prstDash val="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E" noProof="1">
                <a:solidFill>
                  <a:schemeClr val="accent3"/>
                </a:solidFill>
              </a:rPr>
              <a:t>+</a:t>
            </a:r>
          </a:p>
        </p:txBody>
      </p:sp>
    </p:spTree>
    <p:extLst>
      <p:ext uri="{BB962C8B-B14F-4D97-AF65-F5344CB8AC3E}">
        <p14:creationId xmlns:p14="http://schemas.microsoft.com/office/powerpoint/2010/main" val="22224231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4891</TotalTime>
  <Words>278</Words>
  <Application>Microsoft Office PowerPoint</Application>
  <PresentationFormat>Widescreen</PresentationFormat>
  <Paragraphs>147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Office Theme</vt:lpstr>
      <vt:lpstr>phd</vt:lpstr>
      <vt:lpstr>master</vt:lpstr>
      <vt:lpstr>postdoc_2</vt:lpstr>
      <vt:lpstr>postdoc</vt:lpstr>
      <vt:lpstr>existing module architectures</vt:lpstr>
      <vt:lpstr>module architectures example: csp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David Saldivia Salazar</dc:creator>
  <cp:lastModifiedBy>David Saldivia Salazar</cp:lastModifiedBy>
  <cp:revision>3</cp:revision>
  <dcterms:created xsi:type="dcterms:W3CDTF">2025-05-16T12:08:46Z</dcterms:created>
  <dcterms:modified xsi:type="dcterms:W3CDTF">2026-05-13T07:23:24Z</dcterms:modified>
</cp:coreProperties>
</file>