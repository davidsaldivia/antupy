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72" r:id="rId2"/>
    <p:sldId id="273" r:id="rId3"/>
    <p:sldId id="274" r:id="rId4"/>
    <p:sldId id="258" r:id="rId5"/>
    <p:sldId id="265" r:id="rId6"/>
    <p:sldId id="267" r:id="rId7"/>
    <p:sldId id="266" r:id="rId8"/>
    <p:sldId id="268" r:id="rId9"/>
    <p:sldId id="275" r:id="rId10"/>
    <p:sldId id="270" r:id="rId11"/>
    <p:sldId id="260" r:id="rId12"/>
    <p:sldId id="27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8ABA95-B001-4273-8D6E-3B8A88B3601F}" v="1" dt="2025-05-19T15:48:47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Saldivia Salazar" userId="7702d5bea18b5005" providerId="Windows Live" clId="Web-{DEE3EBF8-C64F-44DD-A996-26950E229D3F}"/>
    <pc:docChg chg="modSld">
      <pc:chgData name="David Saldivia Salazar" userId="7702d5bea18b5005" providerId="Windows Live" clId="Web-{DEE3EBF8-C64F-44DD-A996-26950E229D3F}" dt="2024-12-16T14:53:21.694" v="3" actId="20577"/>
      <pc:docMkLst>
        <pc:docMk/>
      </pc:docMkLst>
      <pc:sldChg chg="modSp">
        <pc:chgData name="David Saldivia Salazar" userId="7702d5bea18b5005" providerId="Windows Live" clId="Web-{DEE3EBF8-C64F-44DD-A996-26950E229D3F}" dt="2024-12-16T14:53:21.694" v="3" actId="20577"/>
        <pc:sldMkLst>
          <pc:docMk/>
          <pc:sldMk cId="2117738962" sldId="260"/>
        </pc:sldMkLst>
      </pc:sldChg>
    </pc:docChg>
  </pc:docChgLst>
  <pc:docChgLst>
    <pc:chgData name="David Saldivia Salazar" userId="7702d5bea18b5005" providerId="LiveId" clId="{748ABA95-B001-4273-8D6E-3B8A88B3601F}"/>
    <pc:docChg chg="addSld modSld">
      <pc:chgData name="David Saldivia Salazar" userId="7702d5bea18b5005" providerId="LiveId" clId="{748ABA95-B001-4273-8D6E-3B8A88B3601F}" dt="2025-05-19T15:48:47.505" v="9"/>
      <pc:docMkLst>
        <pc:docMk/>
      </pc:docMkLst>
      <pc:sldChg chg="modSp mod">
        <pc:chgData name="David Saldivia Salazar" userId="7702d5bea18b5005" providerId="LiveId" clId="{748ABA95-B001-4273-8D6E-3B8A88B3601F}" dt="2025-05-16T15:19:07.715" v="8" actId="20577"/>
        <pc:sldMkLst>
          <pc:docMk/>
          <pc:sldMk cId="2676536960" sldId="257"/>
        </pc:sldMkLst>
        <pc:spChg chg="mod">
          <ac:chgData name="David Saldivia Salazar" userId="7702d5bea18b5005" providerId="LiveId" clId="{748ABA95-B001-4273-8D6E-3B8A88B3601F}" dt="2025-05-16T15:19:07.715" v="8" actId="20577"/>
          <ac:spMkLst>
            <pc:docMk/>
            <pc:sldMk cId="2676536960" sldId="257"/>
            <ac:spMk id="3" creationId="{BB7C6D76-08D1-11E9-67DC-F1DD43A604DC}"/>
          </ac:spMkLst>
        </pc:spChg>
      </pc:sldChg>
      <pc:sldChg chg="add">
        <pc:chgData name="David Saldivia Salazar" userId="7702d5bea18b5005" providerId="LiveId" clId="{748ABA95-B001-4273-8D6E-3B8A88B3601F}" dt="2025-05-19T15:48:47.505" v="9"/>
        <pc:sldMkLst>
          <pc:docMk/>
          <pc:sldMk cId="2168866448" sldId="263"/>
        </pc:sldMkLst>
      </pc:sldChg>
      <pc:sldChg chg="add">
        <pc:chgData name="David Saldivia Salazar" userId="7702d5bea18b5005" providerId="LiveId" clId="{748ABA95-B001-4273-8D6E-3B8A88B3601F}" dt="2025-05-19T15:48:47.505" v="9"/>
        <pc:sldMkLst>
          <pc:docMk/>
          <pc:sldMk cId="1238632186" sldId="264"/>
        </pc:sldMkLst>
      </pc:sldChg>
    </pc:docChg>
  </pc:docChgLst>
  <pc:docChgLst>
    <pc:chgData name="David Saldivia Salazar" userId="7702d5bea18b5005" providerId="LiveId" clId="{C05DD3A2-369D-4273-8BB2-5569523B78F9}"/>
    <pc:docChg chg="custSel modSld">
      <pc:chgData name="David Saldivia Salazar" userId="7702d5bea18b5005" providerId="LiveId" clId="{C05DD3A2-369D-4273-8BB2-5569523B78F9}" dt="2024-09-02T04:44:40.064" v="85" actId="20577"/>
      <pc:docMkLst>
        <pc:docMk/>
      </pc:docMkLst>
      <pc:sldChg chg="modSp mod">
        <pc:chgData name="David Saldivia Salazar" userId="7702d5bea18b5005" providerId="LiveId" clId="{C05DD3A2-369D-4273-8BB2-5569523B78F9}" dt="2024-09-02T04:44:40.064" v="85" actId="20577"/>
        <pc:sldMkLst>
          <pc:docMk/>
          <pc:sldMk cId="2263721948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5202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6745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5674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29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7016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7047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6529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5039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1957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1086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0F017-51D9-403D-A3B1-D86CBEE1772E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8942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0F017-51D9-403D-A3B1-D86CBEE1772E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5635D-284A-45D5-8064-173C42ECCC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60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Mapuch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vidSaldivia/antupy.dewh/" TargetMode="External"/><Relationship Id="rId2" Type="http://schemas.openxmlformats.org/officeDocument/2006/relationships/hyperlink" Target="https://github.com/DavidSaldivia/bdr_cs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ithub.com/DavidSaldivia/antup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62EFE5-DBCD-6923-D9C1-734F2961A0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1">
                <a:solidFill>
                  <a:srgbClr val="FF9900"/>
                </a:solidFill>
              </a:rPr>
              <a:t>antu</a:t>
            </a:r>
            <a:r>
              <a:rPr lang="en-US" noProof="1">
                <a:solidFill>
                  <a:schemeClr val="accent4"/>
                </a:solidFill>
              </a:rPr>
              <a:t>py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03C1AD0-79E7-62AB-91B9-BF41C09A4D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1"/>
              <a:t>by david </a:t>
            </a:r>
            <a:r>
              <a:rPr lang="en-US" b="1" noProof="1"/>
              <a:t>saldivia</a:t>
            </a:r>
            <a:r>
              <a:rPr lang="en-US" noProof="1"/>
              <a:t> salazar </a:t>
            </a:r>
            <a:r>
              <a:rPr lang="en-US" sz="1600" noProof="1"/>
              <a:t>(et al.)*</a:t>
            </a:r>
            <a:endParaRPr lang="en-US" noProof="1"/>
          </a:p>
          <a:p>
            <a:r>
              <a:rPr lang="en-US" sz="2000" noProof="1"/>
              <a:t>mechanical engineer, phd in renewable energy engineering</a:t>
            </a:r>
          </a:p>
        </p:txBody>
      </p:sp>
      <p:sp>
        <p:nvSpPr>
          <p:cNvPr id="2" name="Subtitle 4">
            <a:extLst>
              <a:ext uri="{FF2B5EF4-FFF2-40B4-BE49-F238E27FC236}">
                <a16:creationId xmlns:a16="http://schemas.microsoft.com/office/drawing/2014/main" id="{EB561F48-6FBB-72E1-37A0-3BA014124B8D}"/>
              </a:ext>
            </a:extLst>
          </p:cNvPr>
          <p:cNvSpPr txBox="1">
            <a:spLocks/>
          </p:cNvSpPr>
          <p:nvPr/>
        </p:nvSpPr>
        <p:spPr>
          <a:xfrm>
            <a:off x="7754112" y="6419088"/>
            <a:ext cx="4300728" cy="2926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noProof="1"/>
              <a:t>*: r. taylor, a.bruce, b. yildiz, r. barraza, j. cardemil</a:t>
            </a:r>
            <a:endParaRPr lang="en-US" sz="1400" noProof="1"/>
          </a:p>
        </p:txBody>
      </p:sp>
    </p:spTree>
    <p:extLst>
      <p:ext uri="{BB962C8B-B14F-4D97-AF65-F5344CB8AC3E}">
        <p14:creationId xmlns:p14="http://schemas.microsoft.com/office/powerpoint/2010/main" val="155010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8AA51-11F1-D25C-5E8D-4335FA4A8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AABBC-DA96-0D88-9E84-B29C87E15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>
                <a:solidFill>
                  <a:srgbClr val="FF9900"/>
                </a:solidFill>
              </a:rPr>
              <a:t>antu</a:t>
            </a:r>
            <a:r>
              <a:rPr lang="en-US" noProof="1">
                <a:solidFill>
                  <a:schemeClr val="accent4"/>
                </a:solidFill>
              </a:rPr>
              <a:t>py</a:t>
            </a:r>
            <a:endParaRPr lang="en-US" noProof="1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AB1B3-6CD5-CD2D-0463-36818FC29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47159"/>
          </a:xfrm>
        </p:spPr>
        <p:txBody>
          <a:bodyPr>
            <a:normAutofit lnSpcReduction="10000"/>
          </a:bodyPr>
          <a:lstStyle/>
          <a:p>
            <a:r>
              <a:rPr lang="en-US" noProof="1"/>
              <a:t>some definitions.</a:t>
            </a:r>
          </a:p>
          <a:p>
            <a:endParaRPr lang="en-US" noProof="1"/>
          </a:p>
          <a:p>
            <a:r>
              <a:rPr lang="en-US" noProof="1"/>
              <a:t>what is antupy?</a:t>
            </a:r>
          </a:p>
          <a:p>
            <a:endParaRPr lang="en-US" noProof="1"/>
          </a:p>
          <a:p>
            <a:r>
              <a:rPr lang="en-US" noProof="1"/>
              <a:t>statement of need.</a:t>
            </a:r>
          </a:p>
          <a:p>
            <a:endParaRPr lang="en-US" noProof="1"/>
          </a:p>
          <a:p>
            <a:r>
              <a:rPr lang="en-US" noProof="1"/>
              <a:t>examples.</a:t>
            </a:r>
          </a:p>
          <a:p>
            <a:endParaRPr lang="en-US" noProof="1"/>
          </a:p>
          <a:p>
            <a:r>
              <a:rPr lang="en-US" noProof="1"/>
              <a:t>collaborate.</a:t>
            </a:r>
          </a:p>
          <a:p>
            <a:pPr lvl="1"/>
            <a:endParaRPr lang="en-US" noProof="1"/>
          </a:p>
          <a:p>
            <a:pPr lvl="1"/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33318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D58F1-782E-4A3B-1728-FA0D7282C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6AA6D-13F9-09A0-3D0E-65FB4EAF6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some important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C0139-2C65-B98B-FAA6-972E5A4FA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926336" cy="4319143"/>
          </a:xfrm>
        </p:spPr>
        <p:txBody>
          <a:bodyPr>
            <a:normAutofit fontScale="85000" lnSpcReduction="20000"/>
          </a:bodyPr>
          <a:lstStyle/>
          <a:p>
            <a:r>
              <a:rPr lang="en-US" noProof="1"/>
              <a:t>python</a:t>
            </a:r>
          </a:p>
          <a:p>
            <a:endParaRPr lang="en-US" noProof="1"/>
          </a:p>
          <a:p>
            <a:r>
              <a:rPr lang="en-US" noProof="1"/>
              <a:t>package</a:t>
            </a:r>
          </a:p>
          <a:p>
            <a:endParaRPr lang="en-US" noProof="1"/>
          </a:p>
          <a:p>
            <a:r>
              <a:rPr lang="en-US" noProof="1"/>
              <a:t>module</a:t>
            </a:r>
          </a:p>
          <a:p>
            <a:endParaRPr lang="en-US" noProof="1"/>
          </a:p>
          <a:p>
            <a:r>
              <a:rPr lang="en-US" noProof="1"/>
              <a:t>library</a:t>
            </a:r>
          </a:p>
          <a:p>
            <a:endParaRPr lang="en-US" noProof="1"/>
          </a:p>
          <a:p>
            <a:r>
              <a:rPr lang="en-US" noProof="1"/>
              <a:t>repository</a:t>
            </a:r>
          </a:p>
          <a:p>
            <a:pPr marL="0" indent="0">
              <a:buNone/>
            </a:pPr>
            <a:endParaRPr lang="en-US" noProof="1"/>
          </a:p>
          <a:p>
            <a:r>
              <a:rPr lang="en-US" noProof="1"/>
              <a:t>script</a:t>
            </a:r>
          </a:p>
          <a:p>
            <a:pPr lvl="1"/>
            <a:endParaRPr lang="en-US" noProof="1"/>
          </a:p>
          <a:p>
            <a:pPr lvl="1"/>
            <a:endParaRPr lang="en-US" noProof="1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FFCF52-BEB9-60D8-695C-D4103B1EB5A1}"/>
              </a:ext>
            </a:extLst>
          </p:cNvPr>
          <p:cNvSpPr txBox="1">
            <a:spLocks/>
          </p:cNvSpPr>
          <p:nvPr/>
        </p:nvSpPr>
        <p:spPr>
          <a:xfrm>
            <a:off x="2764536" y="1825624"/>
            <a:ext cx="8948928" cy="431914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noProof="1"/>
              <a:t>: programming language.</a:t>
            </a:r>
          </a:p>
          <a:p>
            <a:pPr marL="0" indent="0">
              <a:buNone/>
            </a:pPr>
            <a:endParaRPr lang="en-US" noProof="1"/>
          </a:p>
          <a:p>
            <a:pPr marL="0" indent="0">
              <a:buNone/>
            </a:pPr>
            <a:r>
              <a:rPr lang="en-US" noProof="1"/>
              <a:t>: a set of related modules organized under one namespace.</a:t>
            </a:r>
          </a:p>
          <a:p>
            <a:pPr marL="0" indent="0">
              <a:buNone/>
            </a:pPr>
            <a:endParaRPr lang="en-US" noProof="1"/>
          </a:p>
          <a:p>
            <a:pPr marL="0" indent="0">
              <a:buNone/>
            </a:pPr>
            <a:r>
              <a:rPr lang="en-US" noProof="1"/>
              <a:t>: a single importable python code. usually a single file.</a:t>
            </a:r>
          </a:p>
          <a:p>
            <a:pPr marL="0" indent="0">
              <a:buNone/>
            </a:pPr>
            <a:endParaRPr lang="en-US" noProof="1"/>
          </a:p>
          <a:p>
            <a:pPr marL="0" indent="0">
              <a:buNone/>
            </a:pPr>
            <a:r>
              <a:rPr lang="en-US" noProof="1"/>
              <a:t>: it is reusable functionality, delivered through package/modules.</a:t>
            </a:r>
          </a:p>
          <a:p>
            <a:endParaRPr lang="en-US" noProof="1"/>
          </a:p>
          <a:p>
            <a:pPr marL="0" indent="0">
              <a:buNone/>
            </a:pPr>
            <a:r>
              <a:rPr lang="en-US" noProof="1"/>
              <a:t>: it’s where the package/library lives and it is developed (git/github).</a:t>
            </a:r>
          </a:p>
          <a:p>
            <a:pPr marL="0" indent="0">
              <a:buNone/>
            </a:pPr>
            <a:endParaRPr lang="en-US" noProof="1"/>
          </a:p>
          <a:p>
            <a:pPr marL="0" indent="0">
              <a:buNone/>
            </a:pPr>
            <a:r>
              <a:rPr lang="en-US" noProof="1"/>
              <a:t>: a python file intended for direct use.</a:t>
            </a:r>
          </a:p>
          <a:p>
            <a:pPr lvl="1"/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76027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F935-7AD0-D15A-3968-91D3F935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>
                <a:solidFill>
                  <a:srgbClr val="FF9900"/>
                </a:solidFill>
              </a:rPr>
              <a:t>antu</a:t>
            </a:r>
            <a:r>
              <a:rPr lang="en-US" noProof="1">
                <a:solidFill>
                  <a:schemeClr val="accent4"/>
                </a:solidFill>
              </a:rPr>
              <a:t>py: </a:t>
            </a:r>
            <a:r>
              <a:rPr lang="en-US" noProof="1"/>
              <a:t>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C6D76-08D1-11E9-67DC-F1DD43A60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62918"/>
          </a:xfrm>
        </p:spPr>
        <p:txBody>
          <a:bodyPr>
            <a:normAutofit fontScale="92500" lnSpcReduction="20000"/>
          </a:bodyPr>
          <a:lstStyle/>
          <a:p>
            <a:r>
              <a:rPr lang="en-US" noProof="1"/>
              <a:t>a python toolkit to support (energy) engineering simulations.</a:t>
            </a:r>
          </a:p>
          <a:p>
            <a:r>
              <a:rPr lang="en-US" noProof="1"/>
              <a:t>latest version: 0.6.2</a:t>
            </a:r>
          </a:p>
          <a:p>
            <a:r>
              <a:rPr lang="en-US" noProof="1"/>
              <a:t>published in PyPI (pip). no yet in conda.</a:t>
            </a:r>
          </a:p>
          <a:p>
            <a:r>
              <a:rPr lang="en-US" noProof="1"/>
              <a:t>etymology</a:t>
            </a:r>
            <a:r>
              <a:rPr lang="en-US" i="1" noProof="1"/>
              <a:t>:</a:t>
            </a:r>
          </a:p>
          <a:p>
            <a:pPr lvl="1"/>
            <a:r>
              <a:rPr lang="en-US" i="1" noProof="1"/>
              <a:t>antü-</a:t>
            </a:r>
            <a:r>
              <a:rPr lang="en-US" noProof="1"/>
              <a:t>: sun in </a:t>
            </a:r>
            <a:r>
              <a:rPr lang="en-US" noProof="1">
                <a:hlinkClick r:id="rId2"/>
              </a:rPr>
              <a:t>mapuzugun</a:t>
            </a:r>
            <a:r>
              <a:rPr lang="en-US" noProof="1"/>
              <a:t>.</a:t>
            </a:r>
          </a:p>
          <a:p>
            <a:pPr lvl="1"/>
            <a:r>
              <a:rPr lang="en-US" i="1" noProof="1"/>
              <a:t>-py</a:t>
            </a:r>
            <a:r>
              <a:rPr lang="en-US" noProof="1"/>
              <a:t>: python package.</a:t>
            </a:r>
          </a:p>
          <a:p>
            <a:pPr lvl="1"/>
            <a:endParaRPr lang="en-US" noProof="1"/>
          </a:p>
          <a:p>
            <a:pPr lvl="1"/>
            <a:endParaRPr lang="en-US" noProof="1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4A82E7B-9930-D643-2527-F05F2F94AF9E}"/>
              </a:ext>
            </a:extLst>
          </p:cNvPr>
          <p:cNvSpPr txBox="1">
            <a:spLocks/>
          </p:cNvSpPr>
          <p:nvPr/>
        </p:nvSpPr>
        <p:spPr>
          <a:xfrm>
            <a:off x="8938751" y="4477649"/>
            <a:ext cx="2653481" cy="1485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targets:</a:t>
            </a:r>
          </a:p>
          <a:p>
            <a:pPr lvl="1"/>
            <a:r>
              <a:rPr lang="en-US" noProof="1"/>
              <a:t>education</a:t>
            </a:r>
          </a:p>
          <a:p>
            <a:pPr lvl="1"/>
            <a:r>
              <a:rPr lang="en-US" noProof="1"/>
              <a:t>research</a:t>
            </a:r>
          </a:p>
          <a:p>
            <a:pPr lvl="1"/>
            <a:endParaRPr lang="en-US" noProof="1"/>
          </a:p>
          <a:p>
            <a:pPr lvl="1"/>
            <a:endParaRPr lang="en-US" noProof="1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FD9C081-D163-11AD-7F31-D7651713DC96}"/>
              </a:ext>
            </a:extLst>
          </p:cNvPr>
          <p:cNvSpPr txBox="1">
            <a:spLocks/>
          </p:cNvSpPr>
          <p:nvPr/>
        </p:nvSpPr>
        <p:spPr>
          <a:xfrm>
            <a:off x="838200" y="4477648"/>
            <a:ext cx="4456471" cy="2611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influences:</a:t>
            </a:r>
          </a:p>
          <a:p>
            <a:pPr lvl="1"/>
            <a:r>
              <a:rPr lang="en-US" noProof="1"/>
              <a:t>SAM</a:t>
            </a:r>
          </a:p>
          <a:p>
            <a:pPr lvl="1"/>
            <a:r>
              <a:rPr lang="en-US" noProof="1"/>
              <a:t>EES</a:t>
            </a:r>
          </a:p>
          <a:p>
            <a:pPr lvl="1"/>
            <a:r>
              <a:rPr lang="en-US" noProof="1"/>
              <a:t>TRNSYS</a:t>
            </a:r>
          </a:p>
          <a:p>
            <a:pPr lvl="1"/>
            <a:r>
              <a:rPr lang="en-US" noProof="1"/>
              <a:t>solarPILOT</a:t>
            </a:r>
          </a:p>
          <a:p>
            <a:pPr lvl="1"/>
            <a:endParaRPr lang="en-US" noProof="1"/>
          </a:p>
          <a:p>
            <a:pPr lvl="1"/>
            <a:endParaRPr lang="en-US" noProof="1"/>
          </a:p>
          <a:p>
            <a:pPr lvl="1"/>
            <a:endParaRPr lang="en-US" noProof="1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CD6576E-4A89-E902-F09F-A3760A86D213}"/>
              </a:ext>
            </a:extLst>
          </p:cNvPr>
          <p:cNvSpPr txBox="1">
            <a:spLocks/>
          </p:cNvSpPr>
          <p:nvPr/>
        </p:nvSpPr>
        <p:spPr>
          <a:xfrm>
            <a:off x="4576916" y="4477648"/>
            <a:ext cx="3446207" cy="1982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dependancies:</a:t>
            </a:r>
          </a:p>
          <a:p>
            <a:pPr lvl="1"/>
            <a:r>
              <a:rPr lang="en-US" noProof="1"/>
              <a:t>numpy</a:t>
            </a:r>
          </a:p>
          <a:p>
            <a:pPr lvl="1"/>
            <a:r>
              <a:rPr lang="en-US" noProof="1"/>
              <a:t>pandas (polars)</a:t>
            </a:r>
          </a:p>
          <a:p>
            <a:pPr lvl="1"/>
            <a:r>
              <a:rPr lang="en-US" noProof="1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23397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2F7BD-B51F-337C-5137-5569B5841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EC0F-AB3B-428A-F835-02360589E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statement of need (why):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0418D-C369-51E9-86F7-573B2DCA5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38969"/>
          </a:xfrm>
        </p:spPr>
        <p:txBody>
          <a:bodyPr>
            <a:normAutofit/>
          </a:bodyPr>
          <a:lstStyle/>
          <a:p>
            <a:r>
              <a:rPr lang="en-US" noProof="1"/>
              <a:t>unit management:</a:t>
            </a:r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r>
              <a:rPr lang="en-US" sz="2000" noProof="1"/>
              <a:t>“it would be good to incorporate the units in the variables themselves”</a:t>
            </a:r>
            <a:endParaRPr lang="en-US" noProof="1"/>
          </a:p>
          <a:p>
            <a:pPr lvl="1"/>
            <a:endParaRPr lang="en-US" noProof="1"/>
          </a:p>
          <a:p>
            <a:pPr lvl="1"/>
            <a:endParaRPr lang="en-US" noProof="1"/>
          </a:p>
          <a:p>
            <a:pPr lvl="1"/>
            <a:endParaRPr lang="en-US" noProof="1"/>
          </a:p>
          <a:p>
            <a:pPr lvl="1"/>
            <a:endParaRPr lang="en-U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250D1-BEF7-8B73-76A6-E23A1355A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85404"/>
            <a:ext cx="5169408" cy="3270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E81A52-A52F-E4AB-14BB-598A89980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08" y="2285404"/>
            <a:ext cx="5973009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58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42891-EB6F-581E-82B5-42751F954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6041A-A4C4-FC2B-44BB-8347FB678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statement of need (why):</a:t>
            </a:r>
            <a:endParaRPr lang="en-US" noProof="1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99738-CEF4-34E1-E4BC-646FCBD3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7600"/>
          </a:xfrm>
        </p:spPr>
        <p:txBody>
          <a:bodyPr>
            <a:normAutofit fontScale="92500" lnSpcReduction="10000"/>
          </a:bodyPr>
          <a:lstStyle/>
          <a:p>
            <a:r>
              <a:rPr lang="en-US" noProof="1"/>
              <a:t>(thermal) energy simulations have common tasks:</a:t>
            </a:r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r>
              <a:rPr lang="en-US" noProof="1"/>
              <a:t>“how to reuse functionality already implemented in other projects?”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3FDA3-7CE4-C9C8-312F-4CCE508D1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127" y="2295145"/>
            <a:ext cx="5853745" cy="383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4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6BFF-3B7A-9FA4-10E4-152DDA2DD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D5BB86-9EA2-A882-A0DC-9295B6BB7CEB}"/>
              </a:ext>
            </a:extLst>
          </p:cNvPr>
          <p:cNvSpPr/>
          <p:nvPr/>
        </p:nvSpPr>
        <p:spPr>
          <a:xfrm>
            <a:off x="405610" y="1954958"/>
            <a:ext cx="7739566" cy="1089383"/>
          </a:xfrm>
          <a:prstGeom prst="roundRect">
            <a:avLst>
              <a:gd name="adj" fmla="val 6212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noProof="1">
                <a:solidFill>
                  <a:schemeClr val="accent1"/>
                </a:solidFill>
              </a:rPr>
              <a:t>core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35B79B-17D8-DB66-3632-53FECC2899E8}"/>
              </a:ext>
            </a:extLst>
          </p:cNvPr>
          <p:cNvSpPr/>
          <p:nvPr/>
        </p:nvSpPr>
        <p:spPr>
          <a:xfrm>
            <a:off x="2505228" y="2374396"/>
            <a:ext cx="1218310" cy="54207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accent1"/>
                </a:solidFill>
              </a:rPr>
              <a:t>Var</a:t>
            </a:r>
          </a:p>
          <a:p>
            <a:pPr algn="ctr"/>
            <a:r>
              <a:rPr lang="en-US" sz="1000" noProof="1">
                <a:solidFill>
                  <a:schemeClr val="accent1"/>
                </a:solidFill>
              </a:rPr>
              <a:t>(float, str)</a:t>
            </a:r>
            <a:endParaRPr lang="en-US" noProof="1">
              <a:solidFill>
                <a:schemeClr val="accent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9B78E06-CE99-FC3C-1175-F68691301C81}"/>
              </a:ext>
            </a:extLst>
          </p:cNvPr>
          <p:cNvSpPr/>
          <p:nvPr/>
        </p:nvSpPr>
        <p:spPr>
          <a:xfrm>
            <a:off x="4091607" y="2374396"/>
            <a:ext cx="1218310" cy="54207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accent1"/>
                </a:solidFill>
              </a:rPr>
              <a:t>Array</a:t>
            </a:r>
          </a:p>
          <a:p>
            <a:pPr algn="ctr"/>
            <a:r>
              <a:rPr lang="en-US" sz="1000" noProof="1">
                <a:solidFill>
                  <a:schemeClr val="accent1"/>
                </a:solidFill>
              </a:rPr>
              <a:t>(np.ndarray, str)</a:t>
            </a:r>
            <a:endParaRPr lang="en-US" noProof="1">
              <a:solidFill>
                <a:schemeClr val="accent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26146B-754C-C345-9ED7-1AB0B4064D0E}"/>
              </a:ext>
            </a:extLst>
          </p:cNvPr>
          <p:cNvSpPr/>
          <p:nvPr/>
        </p:nvSpPr>
        <p:spPr>
          <a:xfrm>
            <a:off x="5693924" y="2374396"/>
            <a:ext cx="1859020" cy="542074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accent1"/>
                </a:solidFill>
              </a:rPr>
              <a:t>Frame</a:t>
            </a:r>
          </a:p>
          <a:p>
            <a:pPr algn="ctr"/>
            <a:r>
              <a:rPr lang="en-US" sz="1000" noProof="1">
                <a:solidFill>
                  <a:schemeClr val="accent1"/>
                </a:solidFill>
              </a:rPr>
              <a:t>(pd.DataFrame, dict[str, str])</a:t>
            </a:r>
            <a:endParaRPr lang="en-US" sz="1400" noProof="1">
              <a:solidFill>
                <a:schemeClr val="accent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AB1282-5FA5-1738-65F7-3FE6A8165E61}"/>
              </a:ext>
            </a:extLst>
          </p:cNvPr>
          <p:cNvGrpSpPr/>
          <p:nvPr/>
        </p:nvGrpSpPr>
        <p:grpSpPr>
          <a:xfrm>
            <a:off x="402976" y="3202857"/>
            <a:ext cx="7739566" cy="1089383"/>
            <a:chOff x="1561744" y="2130515"/>
            <a:chExt cx="6938534" cy="963330"/>
          </a:xfrm>
          <a:noFill/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DD516AD-A453-D6F4-FF5E-CCD2DA28A785}"/>
                </a:ext>
              </a:extLst>
            </p:cNvPr>
            <p:cNvSpPr/>
            <p:nvPr/>
          </p:nvSpPr>
          <p:spPr>
            <a:xfrm>
              <a:off x="3186532" y="2533987"/>
              <a:ext cx="1128739" cy="402198"/>
            </a:xfrm>
            <a:prstGeom prst="roundRect">
              <a:avLst/>
            </a:prstGeom>
            <a:grpFill/>
            <a:ln>
              <a:solidFill>
                <a:schemeClr val="accent3"/>
              </a:solidFill>
              <a:prstDash val="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chemeClr val="accent3"/>
                  </a:solidFill>
                </a:rPr>
                <a:t>htc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024CA8D-09BA-4DC5-EC2E-4B4B1F199AA8}"/>
                </a:ext>
              </a:extLst>
            </p:cNvPr>
            <p:cNvSpPr/>
            <p:nvPr/>
          </p:nvSpPr>
          <p:spPr>
            <a:xfrm>
              <a:off x="4625175" y="2533987"/>
              <a:ext cx="1128739" cy="402198"/>
            </a:xfrm>
            <a:prstGeom prst="roundRect">
              <a:avLst/>
            </a:prstGeom>
            <a:grpFill/>
            <a:ln>
              <a:solidFill>
                <a:schemeClr val="accent3"/>
              </a:solidFill>
              <a:prstDash val="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chemeClr val="accent3"/>
                  </a:solidFill>
                </a:rPr>
                <a:t>solar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B872FBA-CD7B-92DC-5BCE-269AB7734F07}"/>
                </a:ext>
              </a:extLst>
            </p:cNvPr>
            <p:cNvSpPr/>
            <p:nvPr/>
          </p:nvSpPr>
          <p:spPr>
            <a:xfrm>
              <a:off x="1788940" y="2544139"/>
              <a:ext cx="1128739" cy="402198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chemeClr val="accent3"/>
                  </a:solidFill>
                </a:rPr>
                <a:t>props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EB7DE0C-0FD7-E80F-9D94-F3AE0363B77C}"/>
                </a:ext>
              </a:extLst>
            </p:cNvPr>
            <p:cNvSpPr/>
            <p:nvPr/>
          </p:nvSpPr>
          <p:spPr>
            <a:xfrm>
              <a:off x="6063818" y="2533987"/>
              <a:ext cx="1128739" cy="402198"/>
            </a:xfrm>
            <a:prstGeom prst="roundRect">
              <a:avLst/>
            </a:prstGeom>
            <a:grpFill/>
            <a:ln>
              <a:solidFill>
                <a:schemeClr val="accent3"/>
              </a:solidFill>
              <a:prstDash val="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chemeClr val="accent3"/>
                  </a:solidFill>
                </a:rPr>
                <a:t>loc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571A80F-5F95-38F9-C27E-88F933001810}"/>
                </a:ext>
              </a:extLst>
            </p:cNvPr>
            <p:cNvSpPr/>
            <p:nvPr/>
          </p:nvSpPr>
          <p:spPr>
            <a:xfrm>
              <a:off x="1561744" y="2130515"/>
              <a:ext cx="6938534" cy="963330"/>
            </a:xfrm>
            <a:prstGeom prst="roundRect">
              <a:avLst>
                <a:gd name="adj" fmla="val 6212"/>
              </a:avLst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noProof="1">
                  <a:solidFill>
                    <a:schemeClr val="accent3"/>
                  </a:solidFill>
                </a:rPr>
                <a:t>utils</a:t>
              </a:r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5613ACE-EBF2-9450-76C4-1B4C63E2AA35}"/>
              </a:ext>
            </a:extLst>
          </p:cNvPr>
          <p:cNvSpPr/>
          <p:nvPr/>
        </p:nvSpPr>
        <p:spPr>
          <a:xfrm>
            <a:off x="8336899" y="1937163"/>
            <a:ext cx="1897353" cy="4201745"/>
          </a:xfrm>
          <a:prstGeom prst="roundRect">
            <a:avLst>
              <a:gd name="adj" fmla="val 9731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rIns="3600" rtlCol="0" anchor="t"/>
          <a:lstStyle/>
          <a:p>
            <a:pPr algn="ctr"/>
            <a:r>
              <a:rPr lang="en-US" sz="1600" noProof="1">
                <a:solidFill>
                  <a:schemeClr val="accent2"/>
                </a:solidFill>
              </a:rPr>
              <a:t>catalog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7FBFD8-0ABA-8A26-A75D-15E2A691D412}"/>
              </a:ext>
            </a:extLst>
          </p:cNvPr>
          <p:cNvSpPr/>
          <p:nvPr/>
        </p:nvSpPr>
        <p:spPr>
          <a:xfrm>
            <a:off x="8569083" y="2836752"/>
            <a:ext cx="1452084" cy="365840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accent2"/>
                </a:solidFill>
              </a:rPr>
              <a:t>dwh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DA861DE-8C9E-7A41-F399-22685ED78BC2}"/>
              </a:ext>
            </a:extLst>
          </p:cNvPr>
          <p:cNvSpPr/>
          <p:nvPr/>
        </p:nvSpPr>
        <p:spPr>
          <a:xfrm>
            <a:off x="8572948" y="3734428"/>
            <a:ext cx="1452084" cy="365840"/>
          </a:xfrm>
          <a:prstGeom prst="roundRect">
            <a:avLst/>
          </a:prstGeom>
          <a:noFill/>
          <a:ln>
            <a:solidFill>
              <a:schemeClr val="accent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accent2"/>
                </a:solidFill>
              </a:rPr>
              <a:t>stg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E78440-BB03-BDFB-EE39-A637007A651E}"/>
              </a:ext>
            </a:extLst>
          </p:cNvPr>
          <p:cNvSpPr/>
          <p:nvPr/>
        </p:nvSpPr>
        <p:spPr>
          <a:xfrm>
            <a:off x="8569083" y="2395920"/>
            <a:ext cx="1452084" cy="365840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accent2"/>
                </a:solidFill>
              </a:rPr>
              <a:t>csp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1B3E5F6-B4FE-7633-5625-48353B5F120E}"/>
              </a:ext>
            </a:extLst>
          </p:cNvPr>
          <p:cNvSpPr/>
          <p:nvPr/>
        </p:nvSpPr>
        <p:spPr>
          <a:xfrm>
            <a:off x="8574726" y="3282272"/>
            <a:ext cx="1452084" cy="365840"/>
          </a:xfrm>
          <a:prstGeom prst="roundRect">
            <a:avLst/>
          </a:prstGeom>
          <a:noFill/>
          <a:ln>
            <a:solidFill>
              <a:schemeClr val="accent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accent2"/>
                </a:solidFill>
              </a:rPr>
              <a:t>desal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B4B9BB6-2B03-C74A-B8D2-CB4A90CBCE3A}"/>
              </a:ext>
            </a:extLst>
          </p:cNvPr>
          <p:cNvGrpSpPr/>
          <p:nvPr/>
        </p:nvGrpSpPr>
        <p:grpSpPr>
          <a:xfrm>
            <a:off x="405610" y="4410726"/>
            <a:ext cx="7739566" cy="1739476"/>
            <a:chOff x="1581287" y="3723781"/>
            <a:chExt cx="6938534" cy="109412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941E3E5-7B8E-A89E-E4B9-ACFC1F2E25BC}"/>
                </a:ext>
              </a:extLst>
            </p:cNvPr>
            <p:cNvSpPr/>
            <p:nvPr/>
          </p:nvSpPr>
          <p:spPr>
            <a:xfrm>
              <a:off x="3246686" y="4129543"/>
              <a:ext cx="1289646" cy="416152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chemeClr val="accent5"/>
                  </a:solidFill>
                </a:rPr>
                <a:t>Simulation / Plant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600AAD6-01EB-4536-0618-FCA27F567488}"/>
                </a:ext>
              </a:extLst>
            </p:cNvPr>
            <p:cNvSpPr/>
            <p:nvPr/>
          </p:nvSpPr>
          <p:spPr>
            <a:xfrm>
              <a:off x="6550827" y="3839321"/>
              <a:ext cx="1794481" cy="860375"/>
            </a:xfrm>
            <a:prstGeom prst="roundRect">
              <a:avLst/>
            </a:prstGeom>
            <a:noFill/>
            <a:ln>
              <a:prstDash val="lg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t" anchorCtr="0"/>
            <a:lstStyle/>
            <a:p>
              <a:pPr algn="ctr"/>
              <a:r>
                <a:rPr lang="en-US" sz="1200" noProof="1">
                  <a:solidFill>
                    <a:schemeClr val="accent5"/>
                  </a:solidFill>
                </a:rPr>
                <a:t>TSGs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DD8CDD5-858B-E394-E6F8-0785261DB6DA}"/>
                </a:ext>
              </a:extLst>
            </p:cNvPr>
            <p:cNvSpPr/>
            <p:nvPr/>
          </p:nvSpPr>
          <p:spPr>
            <a:xfrm>
              <a:off x="1581287" y="3723781"/>
              <a:ext cx="6938534" cy="1094125"/>
            </a:xfrm>
            <a:prstGeom prst="roundRect">
              <a:avLst>
                <a:gd name="adj" fmla="val 6212"/>
              </a:avLst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noProof="1">
                  <a:solidFill>
                    <a:schemeClr val="accent5"/>
                  </a:solidFill>
                </a:rPr>
                <a:t>simulation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69BD1DC-71BD-6FEB-EAD9-B5ED918C3DD3}"/>
                </a:ext>
              </a:extLst>
            </p:cNvPr>
            <p:cNvSpPr/>
            <p:nvPr/>
          </p:nvSpPr>
          <p:spPr>
            <a:xfrm>
              <a:off x="4783450" y="4132879"/>
              <a:ext cx="1559223" cy="415413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chemeClr val="accent5"/>
                  </a:solidFill>
                </a:rPr>
                <a:t>Parametric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36B3AAB-9CE1-9957-DF31-58F2778F124E}"/>
                </a:ext>
              </a:extLst>
            </p:cNvPr>
            <p:cNvSpPr/>
            <p:nvPr/>
          </p:nvSpPr>
          <p:spPr>
            <a:xfrm>
              <a:off x="1976368" y="4132982"/>
              <a:ext cx="1023200" cy="415413"/>
            </a:xfrm>
            <a:prstGeom prst="roundRect">
              <a:avLst/>
            </a:prstGeom>
            <a:noFill/>
            <a:ln>
              <a:prstDash val="lg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chemeClr val="accent5"/>
                  </a:solidFill>
                </a:rPr>
                <a:t>Model</a:t>
              </a:r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7354F53-62DD-C51D-004C-1AEE1BC87CD3}"/>
              </a:ext>
            </a:extLst>
          </p:cNvPr>
          <p:cNvSpPr/>
          <p:nvPr/>
        </p:nvSpPr>
        <p:spPr>
          <a:xfrm>
            <a:off x="8574726" y="4190852"/>
            <a:ext cx="1452084" cy="365840"/>
          </a:xfrm>
          <a:prstGeom prst="roundRect">
            <a:avLst/>
          </a:prstGeom>
          <a:noFill/>
          <a:ln>
            <a:solidFill>
              <a:schemeClr val="accent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accent2"/>
                </a:solidFill>
              </a:rPr>
              <a:t>cycles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80B8BD0-C504-112E-29E6-362D47AA58C1}"/>
              </a:ext>
            </a:extLst>
          </p:cNvPr>
          <p:cNvSpPr/>
          <p:nvPr/>
        </p:nvSpPr>
        <p:spPr>
          <a:xfrm>
            <a:off x="8569083" y="4662850"/>
            <a:ext cx="1452084" cy="365840"/>
          </a:xfrm>
          <a:prstGeom prst="roundRect">
            <a:avLst/>
          </a:prstGeom>
          <a:noFill/>
          <a:ln>
            <a:solidFill>
              <a:schemeClr val="accent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accent2"/>
                </a:solidFill>
              </a:rPr>
              <a:t>chem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98F1227-885D-13AA-1FF6-A5A1FA3A8B61}"/>
              </a:ext>
            </a:extLst>
          </p:cNvPr>
          <p:cNvSpPr/>
          <p:nvPr/>
        </p:nvSpPr>
        <p:spPr>
          <a:xfrm>
            <a:off x="8569083" y="5129421"/>
            <a:ext cx="1452084" cy="365840"/>
          </a:xfrm>
          <a:prstGeom prst="roundRect">
            <a:avLst/>
          </a:prstGeom>
          <a:noFill/>
          <a:ln>
            <a:solidFill>
              <a:schemeClr val="accent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accent2"/>
                </a:solidFill>
              </a:rPr>
              <a:t>refrig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6E8A25C-B823-0418-6721-2A4A98CF3504}"/>
              </a:ext>
            </a:extLst>
          </p:cNvPr>
          <p:cNvSpPr/>
          <p:nvPr/>
        </p:nvSpPr>
        <p:spPr>
          <a:xfrm>
            <a:off x="8585868" y="5604788"/>
            <a:ext cx="1452084" cy="365840"/>
          </a:xfrm>
          <a:prstGeom prst="roundRect">
            <a:avLst/>
          </a:prstGeom>
          <a:noFill/>
          <a:ln>
            <a:solidFill>
              <a:schemeClr val="accent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2C649E-AA45-6272-8598-5F08DF9DA447}"/>
              </a:ext>
            </a:extLst>
          </p:cNvPr>
          <p:cNvSpPr/>
          <p:nvPr/>
        </p:nvSpPr>
        <p:spPr>
          <a:xfrm>
            <a:off x="6104874" y="4955729"/>
            <a:ext cx="772011" cy="22463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sz="1000" noProof="1">
                <a:solidFill>
                  <a:schemeClr val="accent5"/>
                </a:solidFill>
              </a:rPr>
              <a:t>Weather</a:t>
            </a:r>
            <a:endParaRPr lang="en-US" noProof="1">
              <a:solidFill>
                <a:schemeClr val="accent5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1D68607-E3FD-684F-20B3-49CE57EAED5B}"/>
              </a:ext>
            </a:extLst>
          </p:cNvPr>
          <p:cNvSpPr/>
          <p:nvPr/>
        </p:nvSpPr>
        <p:spPr>
          <a:xfrm>
            <a:off x="7029948" y="4955729"/>
            <a:ext cx="772011" cy="22463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sz="1000" noProof="1">
                <a:solidFill>
                  <a:schemeClr val="accent5"/>
                </a:solidFill>
              </a:rPr>
              <a:t>Market</a:t>
            </a:r>
            <a:endParaRPr lang="en-US" noProof="1">
              <a:solidFill>
                <a:schemeClr val="accent5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6F90816-86C2-772F-80FF-19578D2032DF}"/>
              </a:ext>
            </a:extLst>
          </p:cNvPr>
          <p:cNvSpPr/>
          <p:nvPr/>
        </p:nvSpPr>
        <p:spPr>
          <a:xfrm>
            <a:off x="6104874" y="5295229"/>
            <a:ext cx="772011" cy="22463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sz="1000" noProof="1">
                <a:solidFill>
                  <a:schemeClr val="accent5"/>
                </a:solidFill>
              </a:rPr>
              <a:t>HWD</a:t>
            </a:r>
            <a:endParaRPr lang="en-US" noProof="1">
              <a:solidFill>
                <a:schemeClr val="accent5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D639D98-D523-A6ED-EFAC-B25EFED0FED3}"/>
              </a:ext>
            </a:extLst>
          </p:cNvPr>
          <p:cNvSpPr/>
          <p:nvPr/>
        </p:nvSpPr>
        <p:spPr>
          <a:xfrm>
            <a:off x="7036832" y="5295229"/>
            <a:ext cx="772011" cy="224636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sz="1000" noProof="1">
                <a:solidFill>
                  <a:schemeClr val="accent5"/>
                </a:solidFill>
              </a:rPr>
              <a:t>Loads</a:t>
            </a:r>
            <a:endParaRPr lang="en-US" noProof="1">
              <a:solidFill>
                <a:schemeClr val="accent5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DB7CC37-3D0E-AC6F-71D1-8D84D8807A50}"/>
              </a:ext>
            </a:extLst>
          </p:cNvPr>
          <p:cNvSpPr/>
          <p:nvPr/>
        </p:nvSpPr>
        <p:spPr>
          <a:xfrm>
            <a:off x="6683849" y="5628749"/>
            <a:ext cx="531683" cy="224636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US" sz="1000" noProof="1">
                <a:solidFill>
                  <a:schemeClr val="accent5"/>
                </a:solidFill>
              </a:rPr>
              <a:t>+</a:t>
            </a:r>
            <a:endParaRPr lang="en-US" noProof="1">
              <a:solidFill>
                <a:schemeClr val="accent5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572FF06-3D93-0E80-BAAC-B4F02AA1CF01}"/>
              </a:ext>
            </a:extLst>
          </p:cNvPr>
          <p:cNvSpPr/>
          <p:nvPr/>
        </p:nvSpPr>
        <p:spPr>
          <a:xfrm>
            <a:off x="7029530" y="3667433"/>
            <a:ext cx="961375" cy="454826"/>
          </a:xfrm>
          <a:prstGeom prst="roundRect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accent3"/>
                </a:solidFill>
              </a:rPr>
              <a:t>+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B028F6B-E244-B508-5881-9188812C2F5C}"/>
              </a:ext>
            </a:extLst>
          </p:cNvPr>
          <p:cNvSpPr/>
          <p:nvPr/>
        </p:nvSpPr>
        <p:spPr>
          <a:xfrm>
            <a:off x="902911" y="2374396"/>
            <a:ext cx="1218310" cy="54207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accent1"/>
                </a:solidFill>
              </a:rPr>
              <a:t>Unit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5115FBB2-B037-5A61-D382-7B54356A2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>
                <a:solidFill>
                  <a:srgbClr val="FF9900"/>
                </a:solidFill>
              </a:rPr>
              <a:t>antu</a:t>
            </a:r>
            <a:r>
              <a:rPr lang="en-US" noProof="1">
                <a:solidFill>
                  <a:schemeClr val="accent4"/>
                </a:solidFill>
              </a:rPr>
              <a:t>py</a:t>
            </a:r>
            <a:r>
              <a:rPr lang="en-US" noProof="1"/>
              <a:t> (0.6.0) architecture</a:t>
            </a:r>
            <a:endParaRPr lang="en-US" noProof="1">
              <a:solidFill>
                <a:schemeClr val="accent5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7D287AC-3BAE-FCE5-4840-1775BCF42914}"/>
              </a:ext>
            </a:extLst>
          </p:cNvPr>
          <p:cNvSpPr/>
          <p:nvPr/>
        </p:nvSpPr>
        <p:spPr>
          <a:xfrm>
            <a:off x="10725232" y="4909328"/>
            <a:ext cx="1218310" cy="27103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tx1"/>
                </a:solidFill>
              </a:rPr>
              <a:t>op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C536DA6-BD5C-69C1-C3F1-5333480DBF1C}"/>
              </a:ext>
            </a:extLst>
          </p:cNvPr>
          <p:cNvSpPr/>
          <p:nvPr/>
        </p:nvSpPr>
        <p:spPr>
          <a:xfrm>
            <a:off x="10725232" y="5312341"/>
            <a:ext cx="1218310" cy="27103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tx1"/>
                </a:solidFill>
              </a:rPr>
              <a:t>dev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D65D37C-6280-D3E8-A503-14DB2C30D8E8}"/>
              </a:ext>
            </a:extLst>
          </p:cNvPr>
          <p:cNvSpPr/>
          <p:nvPr/>
        </p:nvSpPr>
        <p:spPr>
          <a:xfrm>
            <a:off x="10725232" y="5682162"/>
            <a:ext cx="1218310" cy="271037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tx1"/>
                </a:solidFill>
              </a:rPr>
              <a:t>wish</a:t>
            </a:r>
          </a:p>
        </p:txBody>
      </p:sp>
    </p:spTree>
    <p:extLst>
      <p:ext uri="{BB962C8B-B14F-4D97-AF65-F5344CB8AC3E}">
        <p14:creationId xmlns:p14="http://schemas.microsoft.com/office/powerpoint/2010/main" val="2222423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B623F-3908-5345-1CFC-7107400D2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2BAFB-7D63-988E-0FBE-AED8B5A9D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693"/>
            <a:ext cx="10515600" cy="1325563"/>
          </a:xfrm>
        </p:spPr>
        <p:txBody>
          <a:bodyPr/>
          <a:lstStyle/>
          <a:p>
            <a:r>
              <a:rPr lang="en-US" noProof="1">
                <a:solidFill>
                  <a:srgbClr val="FF9900"/>
                </a:solidFill>
              </a:rPr>
              <a:t>antu</a:t>
            </a:r>
            <a:r>
              <a:rPr lang="en-US" noProof="1">
                <a:solidFill>
                  <a:schemeClr val="accent4"/>
                </a:solidFill>
              </a:rPr>
              <a:t>py</a:t>
            </a:r>
            <a:r>
              <a:rPr lang="en-US" noProof="1"/>
              <a:t>: core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33A9E-3977-B6B6-DDBD-9E32F73C1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001"/>
            <a:ext cx="5415116" cy="579248"/>
          </a:xfrm>
        </p:spPr>
        <p:txBody>
          <a:bodyPr>
            <a:normAutofit/>
          </a:bodyPr>
          <a:lstStyle/>
          <a:p>
            <a:r>
              <a:rPr lang="en-US" noProof="1"/>
              <a:t>Var:</a:t>
            </a:r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6609AF-E7DE-8F46-3972-FD685D345BF5}"/>
              </a:ext>
            </a:extLst>
          </p:cNvPr>
          <p:cNvSpPr txBox="1">
            <a:spLocks/>
          </p:cNvSpPr>
          <p:nvPr/>
        </p:nvSpPr>
        <p:spPr>
          <a:xfrm>
            <a:off x="6349181" y="1405001"/>
            <a:ext cx="5415116" cy="4938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Array: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586D4DD-3C50-84BF-F771-000A0884568F}"/>
              </a:ext>
            </a:extLst>
          </p:cNvPr>
          <p:cNvSpPr txBox="1">
            <a:spLocks/>
          </p:cNvSpPr>
          <p:nvPr/>
        </p:nvSpPr>
        <p:spPr>
          <a:xfrm>
            <a:off x="475685" y="4242816"/>
            <a:ext cx="5873496" cy="1737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main attributes:</a:t>
            </a:r>
          </a:p>
          <a:p>
            <a:pPr lvl="1"/>
            <a:r>
              <a:rPr lang="en-US" noProof="1"/>
              <a:t>value: float	(alias v)</a:t>
            </a:r>
          </a:p>
          <a:p>
            <a:pPr lvl="1"/>
            <a:r>
              <a:rPr lang="en-US" noProof="1"/>
              <a:t>unit: str		(alias u)</a:t>
            </a:r>
          </a:p>
          <a:p>
            <a:pPr marL="0" indent="0">
              <a:buNone/>
            </a:pPr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65ADF-9B21-26F6-4FF0-8F4CCF0C7A13}"/>
              </a:ext>
            </a:extLst>
          </p:cNvPr>
          <p:cNvSpPr txBox="1">
            <a:spLocks/>
          </p:cNvSpPr>
          <p:nvPr/>
        </p:nvSpPr>
        <p:spPr>
          <a:xfrm>
            <a:off x="5650992" y="4242816"/>
            <a:ext cx="6254496" cy="1737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main methods:</a:t>
            </a:r>
          </a:p>
          <a:p>
            <a:pPr lvl="1"/>
            <a:r>
              <a:rPr lang="en-US" noProof="1"/>
              <a:t>get_value(str) -&gt; float		(alias gv())</a:t>
            </a:r>
          </a:p>
          <a:p>
            <a:pPr lvl="1"/>
            <a:r>
              <a:rPr lang="en-US" noProof="1"/>
              <a:t>set_unit(str) -&gt; Var|Array	(alias su())</a:t>
            </a:r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72945D4-2BE5-62ED-C626-423AAE909399}"/>
              </a:ext>
            </a:extLst>
          </p:cNvPr>
          <p:cNvSpPr txBox="1">
            <a:spLocks/>
          </p:cNvSpPr>
          <p:nvPr/>
        </p:nvSpPr>
        <p:spPr>
          <a:xfrm>
            <a:off x="356812" y="5893625"/>
            <a:ext cx="10826300" cy="7814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most arithmetical operations are valid between Var’s and Array’s (following the rules of floats and np.ndarray)</a:t>
            </a:r>
          </a:p>
          <a:p>
            <a:pPr marL="0" indent="0">
              <a:buNone/>
            </a:pPr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842C22-C12C-6C35-1289-7046E504F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60" y="1892459"/>
            <a:ext cx="5231073" cy="19746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74197B-AA9D-4AEA-41FD-8843FA0EB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275" y="1986229"/>
            <a:ext cx="4982270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917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AE56E-6C9C-AF04-5712-E269D4612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FEB1B-6FD3-2BB3-18BB-587F868D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>
                <a:solidFill>
                  <a:srgbClr val="FF9900"/>
                </a:solidFill>
              </a:rPr>
              <a:t>antu</a:t>
            </a:r>
            <a:r>
              <a:rPr lang="en-US" noProof="1">
                <a:solidFill>
                  <a:schemeClr val="accent4"/>
                </a:solidFill>
              </a:rPr>
              <a:t>py</a:t>
            </a:r>
            <a:r>
              <a:rPr lang="en-US" noProof="1"/>
              <a:t>: unit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FF53D-8D9D-2E2A-83C1-CCA6E1879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4" y="1690688"/>
            <a:ext cx="10672916" cy="4938969"/>
          </a:xfrm>
        </p:spPr>
        <p:txBody>
          <a:bodyPr>
            <a:normAutofit lnSpcReduction="10000"/>
          </a:bodyPr>
          <a:lstStyle/>
          <a:p>
            <a:r>
              <a:rPr lang="en-US" noProof="1"/>
              <a:t>what’s under the hood:</a:t>
            </a:r>
          </a:p>
          <a:p>
            <a:pPr lvl="1"/>
            <a:r>
              <a:rPr lang="en-US" noProof="1"/>
              <a:t>unit strings are converted into a base representation using a Unit class.</a:t>
            </a:r>
          </a:p>
          <a:p>
            <a:pPr lvl="1"/>
            <a:r>
              <a:rPr lang="en-US" noProof="1"/>
              <a:t>the base representation is a factor (float) and a dict[str, int] with exponents.</a:t>
            </a:r>
          </a:p>
          <a:p>
            <a:pPr marL="0" indent="0">
              <a:buNone/>
            </a:pPr>
            <a:endParaRPr lang="en-US" noProof="1"/>
          </a:p>
          <a:p>
            <a:r>
              <a:rPr lang="en-US" noProof="1"/>
              <a:t>valid unit strings:</a:t>
            </a:r>
          </a:p>
          <a:p>
            <a:pPr lvl="1"/>
            <a:r>
              <a:rPr lang="en-US" noProof="1"/>
              <a:t>all seven SI base units plus “-” and “USD”.</a:t>
            </a:r>
          </a:p>
          <a:p>
            <a:pPr lvl="1"/>
            <a:r>
              <a:rPr lang="en-US" noProof="1"/>
              <a:t>all 22 derived SI units and +30 related units.</a:t>
            </a:r>
          </a:p>
          <a:p>
            <a:pPr lvl="1"/>
            <a:r>
              <a:rPr lang="en-US" noProof="1"/>
              <a:t>all units can be used with any of 22 SI prefixes (e.g.: k, M, T)</a:t>
            </a:r>
          </a:p>
          <a:p>
            <a:pPr lvl="1"/>
            <a:r>
              <a:rPr lang="en-US" noProof="1"/>
              <a:t>units can be combined by:</a:t>
            </a:r>
          </a:p>
          <a:p>
            <a:pPr lvl="2"/>
            <a:r>
              <a:rPr lang="en-US" noProof="1"/>
              <a:t>multiplication using hyphon (“-”). other symbols (*, x, etc.) are not allowed.</a:t>
            </a:r>
          </a:p>
          <a:p>
            <a:pPr lvl="2"/>
            <a:r>
              <a:rPr lang="en-US" noProof="1"/>
              <a:t>division using slash (“/”). only one slash per string.</a:t>
            </a:r>
          </a:p>
          <a:p>
            <a:pPr lvl="2"/>
            <a:r>
              <a:rPr lang="en-US" noProof="1"/>
              <a:t>exponentiation, using appending integers (e.g. “m2”). “^” is not supported.</a:t>
            </a:r>
          </a:p>
          <a:p>
            <a:pPr lvl="2"/>
            <a:r>
              <a:rPr lang="en-US" noProof="1"/>
              <a:t>parenthesis are not supported (yet)</a:t>
            </a:r>
          </a:p>
        </p:txBody>
      </p:sp>
    </p:spTree>
    <p:extLst>
      <p:ext uri="{BB962C8B-B14F-4D97-AF65-F5344CB8AC3E}">
        <p14:creationId xmlns:p14="http://schemas.microsoft.com/office/powerpoint/2010/main" val="3407593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861F1-D80F-4BAF-22AC-B455C1EFE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9637-E0A8-AF14-CEBA-AD4AA098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>
                <a:solidFill>
                  <a:srgbClr val="FF9900"/>
                </a:solidFill>
              </a:rPr>
              <a:t>antu</a:t>
            </a:r>
            <a:r>
              <a:rPr lang="en-US" noProof="1">
                <a:solidFill>
                  <a:schemeClr val="accent4"/>
                </a:solidFill>
              </a:rPr>
              <a:t>py</a:t>
            </a:r>
            <a:r>
              <a:rPr lang="en-US" noProof="1"/>
              <a:t>: utils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D7928-E581-942E-A82D-983FBDB73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906"/>
            <a:ext cx="10515600" cy="4938969"/>
          </a:xfrm>
        </p:spPr>
        <p:txBody>
          <a:bodyPr>
            <a:normAutofit/>
          </a:bodyPr>
          <a:lstStyle/>
          <a:p>
            <a:r>
              <a:rPr lang="en-US" noProof="1"/>
              <a:t>props:</a:t>
            </a:r>
          </a:p>
          <a:p>
            <a:pPr lvl="1"/>
            <a:r>
              <a:rPr lang="en-US" noProof="1"/>
              <a:t>thermophysical properties for several fluids and materials.</a:t>
            </a:r>
          </a:p>
          <a:p>
            <a:pPr lvl="1"/>
            <a:r>
              <a:rPr lang="en-US" noProof="1"/>
              <a:t>based on CoolProp (wrapper) and other correlations.</a:t>
            </a:r>
          </a:p>
          <a:p>
            <a:pPr lvl="1"/>
            <a:endParaRPr lang="en-US" noProof="1"/>
          </a:p>
          <a:p>
            <a:pPr lvl="1"/>
            <a:endParaRPr lang="en-US" noProof="1"/>
          </a:p>
          <a:p>
            <a:pPr lvl="1"/>
            <a:endParaRPr lang="en-US" noProof="1"/>
          </a:p>
          <a:p>
            <a:pPr lvl="1"/>
            <a:endParaRPr lang="en-US" noProof="1"/>
          </a:p>
          <a:p>
            <a:pPr lvl="1"/>
            <a:endParaRPr lang="en-US" noProof="1"/>
          </a:p>
          <a:p>
            <a:pPr lvl="1"/>
            <a:endParaRPr lang="en-US" noProof="1"/>
          </a:p>
          <a:p>
            <a:pPr lvl="1"/>
            <a:endParaRPr lang="en-US" noProof="1"/>
          </a:p>
          <a:p>
            <a:pPr lvl="1"/>
            <a:endParaRPr lang="en-US" noProof="1"/>
          </a:p>
          <a:p>
            <a:r>
              <a:rPr lang="en-US" noProof="1"/>
              <a:t>htc: only some basic correlations are implemented.</a:t>
            </a:r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pPr marL="0" indent="0">
              <a:buNone/>
            </a:pPr>
            <a:endParaRPr lang="en-US" noProof="1"/>
          </a:p>
          <a:p>
            <a:pPr marL="0" indent="0">
              <a:buNone/>
            </a:pPr>
            <a:endParaRPr lang="en-US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A3A980-6E98-BDB0-AC68-A52136C57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354" y="3107933"/>
            <a:ext cx="3874482" cy="2324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0AEE09-6325-5CAE-CEF0-9878D46AF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990" y="3159831"/>
            <a:ext cx="3510915" cy="222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533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CA099-A846-EDE8-B890-F74D8EAF0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existing implementations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7182D-00D2-76B8-E40F-3235CC62C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3673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1">
                <a:hlinkClick r:id="rId2"/>
              </a:rPr>
              <a:t>bdr_csp</a:t>
            </a:r>
            <a:r>
              <a:rPr lang="en-US" noProof="1"/>
              <a:t>: csp (my phd code).</a:t>
            </a:r>
          </a:p>
          <a:p>
            <a:r>
              <a:rPr lang="en-US" noProof="1">
                <a:hlinkClick r:id="rId3"/>
              </a:rPr>
              <a:t>tm_solarshift</a:t>
            </a:r>
            <a:r>
              <a:rPr lang="en-US" noProof="1"/>
              <a:t> : dewh (python/trnsys, my first postdoc).</a:t>
            </a:r>
          </a:p>
          <a:p>
            <a:endParaRPr lang="en-US" noProof="1"/>
          </a:p>
          <a:p>
            <a:r>
              <a:rPr lang="en-US" noProof="1"/>
              <a:t>hopefully more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2117738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66F45-12FE-F11D-77AD-3EB78083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24D3F-807C-2D4D-E209-2ED27B0A5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CEF2A-6DD6-D8BC-C4C3-EBE20A6B2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3673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1">
                <a:hlinkClick r:id="rId2"/>
              </a:rPr>
              <a:t>github.com/DavidSaldivia/antupy </a:t>
            </a:r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601317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1232</TotalTime>
  <Words>602</Words>
  <Application>Microsoft Office PowerPoint</Application>
  <PresentationFormat>Widescreen</PresentationFormat>
  <Paragraphs>180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antupy</vt:lpstr>
      <vt:lpstr>antupy</vt:lpstr>
      <vt:lpstr>some important definitions</vt:lpstr>
      <vt:lpstr>antupy: what is it?</vt:lpstr>
      <vt:lpstr>statement of need (why):</vt:lpstr>
      <vt:lpstr>statement of need (why):</vt:lpstr>
      <vt:lpstr>antupy (0.6.0) architecture</vt:lpstr>
      <vt:lpstr>antupy: core classes</vt:lpstr>
      <vt:lpstr>antupy: unit management system</vt:lpstr>
      <vt:lpstr>antupy: utils</vt:lpstr>
      <vt:lpstr>existing implementations</vt:lpstr>
      <vt:lpstr>collaboration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Saldivia Salazar</dc:creator>
  <cp:lastModifiedBy>David Saldivia Salazar</cp:lastModifiedBy>
  <cp:revision>19</cp:revision>
  <dcterms:created xsi:type="dcterms:W3CDTF">2024-09-01T16:01:32Z</dcterms:created>
  <dcterms:modified xsi:type="dcterms:W3CDTF">2026-05-20T23:12:29Z</dcterms:modified>
</cp:coreProperties>
</file>